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14"/>
  </p:notesMasterIdLst>
  <p:handoutMasterIdLst>
    <p:handoutMasterId r:id="rId15"/>
  </p:handoutMasterIdLst>
  <p:sldIdLst>
    <p:sldId id="2146847816" r:id="rId5"/>
    <p:sldId id="2147471219" r:id="rId6"/>
    <p:sldId id="2147471220" r:id="rId7"/>
    <p:sldId id="2147471221" r:id="rId8"/>
    <p:sldId id="2147471224" r:id="rId9"/>
    <p:sldId id="2147471223" r:id="rId10"/>
    <p:sldId id="2147471229" r:id="rId11"/>
    <p:sldId id="2147471230" r:id="rId12"/>
    <p:sldId id="2147471227" r:id="rId13"/>
  </p:sldIdLst>
  <p:sldSz cx="12192000" cy="6858000"/>
  <p:notesSz cx="7315200" cy="9601200"/>
  <p:defaultTextStyle>
    <a:defPPr>
      <a:defRPr lang="en-US"/>
    </a:defPPr>
    <a:lvl1pPr marL="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epheid Corporate Template" id="{1DF13A4B-D2BE-5740-AFB1-44D96CF42827}">
          <p14:sldIdLst>
            <p14:sldId id="2146847816"/>
            <p14:sldId id="2147471219"/>
            <p14:sldId id="2147471220"/>
            <p14:sldId id="2147471221"/>
            <p14:sldId id="2147471224"/>
            <p14:sldId id="2147471223"/>
            <p14:sldId id="2147471229"/>
            <p14:sldId id="2147471230"/>
            <p14:sldId id="214747122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E12532D-9F20-2695-1286-0877602CC958}" name="Espiritu, Justin" initials="EJ" userId="S::justin.espiritu@cepheid.com::e5e516e7-3687-46ed-b769-26099986f7f9" providerId="AD"/>
  <p188:author id="{3867D952-D7F5-3595-103B-F0437DD9446F}" name="Fan, Stephanie" initials="SF" userId="S::Stephanie.Fan@cepheid.com::658eb4c0-fb88-4a29-9980-b7faab4c45d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DBFF82"/>
    <a:srgbClr val="E7E7E7"/>
    <a:srgbClr val="A1E5F9"/>
    <a:srgbClr val="F3BFA4"/>
    <a:srgbClr val="FFFFFF"/>
    <a:srgbClr val="4C4C4F"/>
    <a:srgbClr val="F0CA11"/>
    <a:srgbClr val="15BEF0"/>
    <a:srgbClr val="DF60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53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08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FCE90D-4FF5-4425-9AE8-18A987A1FC1B}" type="doc">
      <dgm:prSet loTypeId="urn:microsoft.com/office/officeart/2005/8/layout/cycle8" loCatId="cycle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n-US"/>
        </a:p>
      </dgm:t>
    </dgm:pt>
    <dgm:pt modelId="{5AA0CACA-1358-4BA9-AE00-783CC267B51C}">
      <dgm:prSet phldrT="[Text]"/>
      <dgm:spPr/>
      <dgm:t>
        <a:bodyPr/>
        <a:lstStyle/>
        <a:p>
          <a:r>
            <a:rPr lang="en-US" dirty="0"/>
            <a:t>Data Governance</a:t>
          </a:r>
        </a:p>
      </dgm:t>
    </dgm:pt>
    <dgm:pt modelId="{D5C5BE88-C790-4EB6-B668-9DD6B3CCD0EA}" type="parTrans" cxnId="{291450A3-5206-4154-81D5-B7C3F34BAEC6}">
      <dgm:prSet/>
      <dgm:spPr/>
      <dgm:t>
        <a:bodyPr/>
        <a:lstStyle/>
        <a:p>
          <a:endParaRPr lang="en-US"/>
        </a:p>
      </dgm:t>
    </dgm:pt>
    <dgm:pt modelId="{474C3A2E-7E86-4187-BB10-332E08F54CFD}" type="sibTrans" cxnId="{291450A3-5206-4154-81D5-B7C3F34BAEC6}">
      <dgm:prSet/>
      <dgm:spPr/>
      <dgm:t>
        <a:bodyPr/>
        <a:lstStyle/>
        <a:p>
          <a:endParaRPr lang="en-US"/>
        </a:p>
      </dgm:t>
    </dgm:pt>
    <dgm:pt modelId="{F92DA129-1267-4D53-B8E9-55DA5844CC05}">
      <dgm:prSet phldrT="[Text]"/>
      <dgm:spPr/>
      <dgm:t>
        <a:bodyPr/>
        <a:lstStyle/>
        <a:p>
          <a:r>
            <a:rPr lang="en-US"/>
            <a:t>Data Platform &amp; Engineering</a:t>
          </a:r>
        </a:p>
      </dgm:t>
    </dgm:pt>
    <dgm:pt modelId="{C2C5C0E0-1E7F-4908-85CA-1B496D20066D}" type="parTrans" cxnId="{2B5A086B-DEF1-4853-8FC9-B793330CDA04}">
      <dgm:prSet/>
      <dgm:spPr/>
      <dgm:t>
        <a:bodyPr/>
        <a:lstStyle/>
        <a:p>
          <a:endParaRPr lang="en-US"/>
        </a:p>
      </dgm:t>
    </dgm:pt>
    <dgm:pt modelId="{BE22C798-4927-4D00-9020-598580911B97}" type="sibTrans" cxnId="{2B5A086B-DEF1-4853-8FC9-B793330CDA04}">
      <dgm:prSet/>
      <dgm:spPr/>
      <dgm:t>
        <a:bodyPr/>
        <a:lstStyle/>
        <a:p>
          <a:endParaRPr lang="en-US"/>
        </a:p>
      </dgm:t>
    </dgm:pt>
    <dgm:pt modelId="{41255BC0-01CE-4310-8F06-EDAD5D2265EC}">
      <dgm:prSet phldrT="[Text]"/>
      <dgm:spPr/>
      <dgm:t>
        <a:bodyPr/>
        <a:lstStyle/>
        <a:p>
          <a:r>
            <a:rPr lang="en-US" dirty="0"/>
            <a:t>Advanced Analytics &amp; Reporting</a:t>
          </a:r>
        </a:p>
      </dgm:t>
    </dgm:pt>
    <dgm:pt modelId="{B662F0EF-5125-4787-B093-5695A7C9ADC3}" type="parTrans" cxnId="{EA7FA3B1-6956-4EEE-9BAE-CEBC8FEBAE77}">
      <dgm:prSet/>
      <dgm:spPr/>
      <dgm:t>
        <a:bodyPr/>
        <a:lstStyle/>
        <a:p>
          <a:endParaRPr lang="en-US"/>
        </a:p>
      </dgm:t>
    </dgm:pt>
    <dgm:pt modelId="{9BBECD8C-1FE0-4080-B2A2-A8D9B19C7F4D}" type="sibTrans" cxnId="{EA7FA3B1-6956-4EEE-9BAE-CEBC8FEBAE77}">
      <dgm:prSet/>
      <dgm:spPr/>
      <dgm:t>
        <a:bodyPr/>
        <a:lstStyle/>
        <a:p>
          <a:endParaRPr lang="en-US"/>
        </a:p>
      </dgm:t>
    </dgm:pt>
    <dgm:pt modelId="{8E171352-DC98-4CEA-A622-3C41A145DE02}" type="pres">
      <dgm:prSet presAssocID="{E4FCE90D-4FF5-4425-9AE8-18A987A1FC1B}" presName="compositeShape" presStyleCnt="0">
        <dgm:presLayoutVars>
          <dgm:chMax val="7"/>
          <dgm:dir/>
          <dgm:resizeHandles val="exact"/>
        </dgm:presLayoutVars>
      </dgm:prSet>
      <dgm:spPr/>
    </dgm:pt>
    <dgm:pt modelId="{26AC099A-2D80-41BE-8E55-766C4A0386BB}" type="pres">
      <dgm:prSet presAssocID="{E4FCE90D-4FF5-4425-9AE8-18A987A1FC1B}" presName="wedge1" presStyleLbl="node1" presStyleIdx="0" presStyleCnt="3"/>
      <dgm:spPr/>
    </dgm:pt>
    <dgm:pt modelId="{1907EE43-6672-41AF-80FA-8BCBB5596DB2}" type="pres">
      <dgm:prSet presAssocID="{E4FCE90D-4FF5-4425-9AE8-18A987A1FC1B}" presName="dummy1a" presStyleCnt="0"/>
      <dgm:spPr/>
    </dgm:pt>
    <dgm:pt modelId="{0285B90E-221E-4C92-B7F3-30EAB4767603}" type="pres">
      <dgm:prSet presAssocID="{E4FCE90D-4FF5-4425-9AE8-18A987A1FC1B}" presName="dummy1b" presStyleCnt="0"/>
      <dgm:spPr/>
    </dgm:pt>
    <dgm:pt modelId="{6506E67D-C210-49B9-B06D-5398F702CE14}" type="pres">
      <dgm:prSet presAssocID="{E4FCE90D-4FF5-4425-9AE8-18A987A1FC1B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EFBF1576-DAE3-4101-99FD-EE917642CDFE}" type="pres">
      <dgm:prSet presAssocID="{E4FCE90D-4FF5-4425-9AE8-18A987A1FC1B}" presName="wedge2" presStyleLbl="node1" presStyleIdx="1" presStyleCnt="3"/>
      <dgm:spPr/>
    </dgm:pt>
    <dgm:pt modelId="{27CCBEFA-9687-4AF5-9EA0-19BC98B1E98C}" type="pres">
      <dgm:prSet presAssocID="{E4FCE90D-4FF5-4425-9AE8-18A987A1FC1B}" presName="dummy2a" presStyleCnt="0"/>
      <dgm:spPr/>
    </dgm:pt>
    <dgm:pt modelId="{039C24B4-95B7-4CCB-9E38-733955FC2538}" type="pres">
      <dgm:prSet presAssocID="{E4FCE90D-4FF5-4425-9AE8-18A987A1FC1B}" presName="dummy2b" presStyleCnt="0"/>
      <dgm:spPr/>
    </dgm:pt>
    <dgm:pt modelId="{BEF3F78D-FA13-4277-887E-D0167BD47580}" type="pres">
      <dgm:prSet presAssocID="{E4FCE90D-4FF5-4425-9AE8-18A987A1FC1B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DCD3F1DB-75A8-4D59-80B3-4F42E04D0DB7}" type="pres">
      <dgm:prSet presAssocID="{E4FCE90D-4FF5-4425-9AE8-18A987A1FC1B}" presName="wedge3" presStyleLbl="node1" presStyleIdx="2" presStyleCnt="3"/>
      <dgm:spPr/>
    </dgm:pt>
    <dgm:pt modelId="{A8A33451-CE3B-4556-BEE3-F8DCD82FC1BB}" type="pres">
      <dgm:prSet presAssocID="{E4FCE90D-4FF5-4425-9AE8-18A987A1FC1B}" presName="dummy3a" presStyleCnt="0"/>
      <dgm:spPr/>
    </dgm:pt>
    <dgm:pt modelId="{2241E58B-B4AD-4A50-B054-0570D1D42277}" type="pres">
      <dgm:prSet presAssocID="{E4FCE90D-4FF5-4425-9AE8-18A987A1FC1B}" presName="dummy3b" presStyleCnt="0"/>
      <dgm:spPr/>
    </dgm:pt>
    <dgm:pt modelId="{95535207-B764-4CE4-A6F7-73CB8CBE71D5}" type="pres">
      <dgm:prSet presAssocID="{E4FCE90D-4FF5-4425-9AE8-18A987A1FC1B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  <dgm:pt modelId="{4E00991C-238A-4AC0-8221-AB55F97F2FAF}" type="pres">
      <dgm:prSet presAssocID="{474C3A2E-7E86-4187-BB10-332E08F54CFD}" presName="arrowWedge1" presStyleLbl="fgSibTrans2D1" presStyleIdx="0" presStyleCnt="3"/>
      <dgm:spPr/>
    </dgm:pt>
    <dgm:pt modelId="{0B779A2C-4851-4131-98DF-0E46AF6C9523}" type="pres">
      <dgm:prSet presAssocID="{BE22C798-4927-4D00-9020-598580911B97}" presName="arrowWedge2" presStyleLbl="fgSibTrans2D1" presStyleIdx="1" presStyleCnt="3"/>
      <dgm:spPr/>
    </dgm:pt>
    <dgm:pt modelId="{9D68243E-5E97-44B6-899F-EDB178221F90}" type="pres">
      <dgm:prSet presAssocID="{9BBECD8C-1FE0-4080-B2A2-A8D9B19C7F4D}" presName="arrowWedge3" presStyleLbl="fgSibTrans2D1" presStyleIdx="2" presStyleCnt="3"/>
      <dgm:spPr/>
    </dgm:pt>
  </dgm:ptLst>
  <dgm:cxnLst>
    <dgm:cxn modelId="{173BC600-BE48-415D-A580-B720FC37DAE3}" type="presOf" srcId="{41255BC0-01CE-4310-8F06-EDAD5D2265EC}" destId="{95535207-B764-4CE4-A6F7-73CB8CBE71D5}" srcOrd="1" destOrd="0" presId="urn:microsoft.com/office/officeart/2005/8/layout/cycle8"/>
    <dgm:cxn modelId="{509C7231-22CF-4FA1-922C-66E64923C672}" type="presOf" srcId="{F92DA129-1267-4D53-B8E9-55DA5844CC05}" destId="{EFBF1576-DAE3-4101-99FD-EE917642CDFE}" srcOrd="0" destOrd="0" presId="urn:microsoft.com/office/officeart/2005/8/layout/cycle8"/>
    <dgm:cxn modelId="{8F7F9766-B69A-4B89-ABFE-230543719533}" type="presOf" srcId="{5AA0CACA-1358-4BA9-AE00-783CC267B51C}" destId="{26AC099A-2D80-41BE-8E55-766C4A0386BB}" srcOrd="0" destOrd="0" presId="urn:microsoft.com/office/officeart/2005/8/layout/cycle8"/>
    <dgm:cxn modelId="{2B5A086B-DEF1-4853-8FC9-B793330CDA04}" srcId="{E4FCE90D-4FF5-4425-9AE8-18A987A1FC1B}" destId="{F92DA129-1267-4D53-B8E9-55DA5844CC05}" srcOrd="1" destOrd="0" parTransId="{C2C5C0E0-1E7F-4908-85CA-1B496D20066D}" sibTransId="{BE22C798-4927-4D00-9020-598580911B97}"/>
    <dgm:cxn modelId="{6AC4395A-505E-45BE-BCAC-983B37A2C11A}" type="presOf" srcId="{F92DA129-1267-4D53-B8E9-55DA5844CC05}" destId="{BEF3F78D-FA13-4277-887E-D0167BD47580}" srcOrd="1" destOrd="0" presId="urn:microsoft.com/office/officeart/2005/8/layout/cycle8"/>
    <dgm:cxn modelId="{4E6DB59A-1847-47AB-882C-9BDF083A6043}" type="presOf" srcId="{E4FCE90D-4FF5-4425-9AE8-18A987A1FC1B}" destId="{8E171352-DC98-4CEA-A622-3C41A145DE02}" srcOrd="0" destOrd="0" presId="urn:microsoft.com/office/officeart/2005/8/layout/cycle8"/>
    <dgm:cxn modelId="{291450A3-5206-4154-81D5-B7C3F34BAEC6}" srcId="{E4FCE90D-4FF5-4425-9AE8-18A987A1FC1B}" destId="{5AA0CACA-1358-4BA9-AE00-783CC267B51C}" srcOrd="0" destOrd="0" parTransId="{D5C5BE88-C790-4EB6-B668-9DD6B3CCD0EA}" sibTransId="{474C3A2E-7E86-4187-BB10-332E08F54CFD}"/>
    <dgm:cxn modelId="{EA7FA3B1-6956-4EEE-9BAE-CEBC8FEBAE77}" srcId="{E4FCE90D-4FF5-4425-9AE8-18A987A1FC1B}" destId="{41255BC0-01CE-4310-8F06-EDAD5D2265EC}" srcOrd="2" destOrd="0" parTransId="{B662F0EF-5125-4787-B093-5695A7C9ADC3}" sibTransId="{9BBECD8C-1FE0-4080-B2A2-A8D9B19C7F4D}"/>
    <dgm:cxn modelId="{3B6A3BD3-5352-4646-9C32-752B2099F8F8}" type="presOf" srcId="{5AA0CACA-1358-4BA9-AE00-783CC267B51C}" destId="{6506E67D-C210-49B9-B06D-5398F702CE14}" srcOrd="1" destOrd="0" presId="urn:microsoft.com/office/officeart/2005/8/layout/cycle8"/>
    <dgm:cxn modelId="{4C8B66D9-3C0B-4367-BE6C-76BDE74831E0}" type="presOf" srcId="{41255BC0-01CE-4310-8F06-EDAD5D2265EC}" destId="{DCD3F1DB-75A8-4D59-80B3-4F42E04D0DB7}" srcOrd="0" destOrd="0" presId="urn:microsoft.com/office/officeart/2005/8/layout/cycle8"/>
    <dgm:cxn modelId="{2E458D3B-930A-45E7-B3A5-0F54D3ACF51A}" type="presParOf" srcId="{8E171352-DC98-4CEA-A622-3C41A145DE02}" destId="{26AC099A-2D80-41BE-8E55-766C4A0386BB}" srcOrd="0" destOrd="0" presId="urn:microsoft.com/office/officeart/2005/8/layout/cycle8"/>
    <dgm:cxn modelId="{744AD3EC-C63F-404C-8175-2693B3AF1FED}" type="presParOf" srcId="{8E171352-DC98-4CEA-A622-3C41A145DE02}" destId="{1907EE43-6672-41AF-80FA-8BCBB5596DB2}" srcOrd="1" destOrd="0" presId="urn:microsoft.com/office/officeart/2005/8/layout/cycle8"/>
    <dgm:cxn modelId="{BAD63234-68AC-4265-AC7F-C218E3A4EAC0}" type="presParOf" srcId="{8E171352-DC98-4CEA-A622-3C41A145DE02}" destId="{0285B90E-221E-4C92-B7F3-30EAB4767603}" srcOrd="2" destOrd="0" presId="urn:microsoft.com/office/officeart/2005/8/layout/cycle8"/>
    <dgm:cxn modelId="{CE0B6D97-F3F2-47A3-AC92-91D7D6AEE91C}" type="presParOf" srcId="{8E171352-DC98-4CEA-A622-3C41A145DE02}" destId="{6506E67D-C210-49B9-B06D-5398F702CE14}" srcOrd="3" destOrd="0" presId="urn:microsoft.com/office/officeart/2005/8/layout/cycle8"/>
    <dgm:cxn modelId="{15B23730-93B2-4F0A-A583-E3FD133E120E}" type="presParOf" srcId="{8E171352-DC98-4CEA-A622-3C41A145DE02}" destId="{EFBF1576-DAE3-4101-99FD-EE917642CDFE}" srcOrd="4" destOrd="0" presId="urn:microsoft.com/office/officeart/2005/8/layout/cycle8"/>
    <dgm:cxn modelId="{42BF4445-18A1-4C61-AEBC-44E8007F4383}" type="presParOf" srcId="{8E171352-DC98-4CEA-A622-3C41A145DE02}" destId="{27CCBEFA-9687-4AF5-9EA0-19BC98B1E98C}" srcOrd="5" destOrd="0" presId="urn:microsoft.com/office/officeart/2005/8/layout/cycle8"/>
    <dgm:cxn modelId="{09710DD6-2AC0-488D-AEF9-F6097EEED55A}" type="presParOf" srcId="{8E171352-DC98-4CEA-A622-3C41A145DE02}" destId="{039C24B4-95B7-4CCB-9E38-733955FC2538}" srcOrd="6" destOrd="0" presId="urn:microsoft.com/office/officeart/2005/8/layout/cycle8"/>
    <dgm:cxn modelId="{C4927679-43BC-477E-9DC7-102F36DB8CDE}" type="presParOf" srcId="{8E171352-DC98-4CEA-A622-3C41A145DE02}" destId="{BEF3F78D-FA13-4277-887E-D0167BD47580}" srcOrd="7" destOrd="0" presId="urn:microsoft.com/office/officeart/2005/8/layout/cycle8"/>
    <dgm:cxn modelId="{AAE4C57E-E8A9-4981-8B49-F29BBABF79EB}" type="presParOf" srcId="{8E171352-DC98-4CEA-A622-3C41A145DE02}" destId="{DCD3F1DB-75A8-4D59-80B3-4F42E04D0DB7}" srcOrd="8" destOrd="0" presId="urn:microsoft.com/office/officeart/2005/8/layout/cycle8"/>
    <dgm:cxn modelId="{10E01AD5-13B8-424C-AA1B-D838DB0C79BA}" type="presParOf" srcId="{8E171352-DC98-4CEA-A622-3C41A145DE02}" destId="{A8A33451-CE3B-4556-BEE3-F8DCD82FC1BB}" srcOrd="9" destOrd="0" presId="urn:microsoft.com/office/officeart/2005/8/layout/cycle8"/>
    <dgm:cxn modelId="{6AD2BDB4-F027-4982-8389-030F84E5D844}" type="presParOf" srcId="{8E171352-DC98-4CEA-A622-3C41A145DE02}" destId="{2241E58B-B4AD-4A50-B054-0570D1D42277}" srcOrd="10" destOrd="0" presId="urn:microsoft.com/office/officeart/2005/8/layout/cycle8"/>
    <dgm:cxn modelId="{7D875C25-A976-4A06-A137-B528E030386C}" type="presParOf" srcId="{8E171352-DC98-4CEA-A622-3C41A145DE02}" destId="{95535207-B764-4CE4-A6F7-73CB8CBE71D5}" srcOrd="11" destOrd="0" presId="urn:microsoft.com/office/officeart/2005/8/layout/cycle8"/>
    <dgm:cxn modelId="{9FBCC252-543D-4B7F-8531-85443C588841}" type="presParOf" srcId="{8E171352-DC98-4CEA-A622-3C41A145DE02}" destId="{4E00991C-238A-4AC0-8221-AB55F97F2FAF}" srcOrd="12" destOrd="0" presId="urn:microsoft.com/office/officeart/2005/8/layout/cycle8"/>
    <dgm:cxn modelId="{3EC0C111-B6E8-4E35-A939-127C7191829E}" type="presParOf" srcId="{8E171352-DC98-4CEA-A622-3C41A145DE02}" destId="{0B779A2C-4851-4131-98DF-0E46AF6C9523}" srcOrd="13" destOrd="0" presId="urn:microsoft.com/office/officeart/2005/8/layout/cycle8"/>
    <dgm:cxn modelId="{2EA16268-992C-42F3-932C-71C53276CE73}" type="presParOf" srcId="{8E171352-DC98-4CEA-A622-3C41A145DE02}" destId="{9D68243E-5E97-44B6-899F-EDB178221F90}" srcOrd="1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23AD10E-2399-419F-9B83-85FD49F30C82}" type="doc">
      <dgm:prSet loTypeId="urn:microsoft.com/office/officeart/2005/8/layout/default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EC26DE9D-5614-44FC-A5B5-BA6B7D75A068}">
      <dgm:prSet phldrT="[Text]"/>
      <dgm:spPr/>
      <dgm:t>
        <a:bodyPr/>
        <a:lstStyle/>
        <a:p>
          <a:r>
            <a:rPr lang="en-US"/>
            <a:t>Ignition </a:t>
          </a:r>
        </a:p>
        <a:p>
          <a:r>
            <a:rPr lang="en-US"/>
            <a:t>(3 Servers) </a:t>
          </a:r>
        </a:p>
      </dgm:t>
    </dgm:pt>
    <dgm:pt modelId="{25CFF0E2-E30D-4F4F-9933-9AA404F8D1DD}" type="parTrans" cxnId="{2E436E7A-3F6E-49DF-A49A-1B6036ED7CCD}">
      <dgm:prSet/>
      <dgm:spPr/>
      <dgm:t>
        <a:bodyPr/>
        <a:lstStyle/>
        <a:p>
          <a:endParaRPr lang="en-US"/>
        </a:p>
      </dgm:t>
    </dgm:pt>
    <dgm:pt modelId="{F86E16DD-BBA8-41C4-93BF-F1FC2C92AB21}" type="sibTrans" cxnId="{2E436E7A-3F6E-49DF-A49A-1B6036ED7CCD}">
      <dgm:prSet/>
      <dgm:spPr/>
      <dgm:t>
        <a:bodyPr/>
        <a:lstStyle/>
        <a:p>
          <a:endParaRPr lang="en-US"/>
        </a:p>
      </dgm:t>
    </dgm:pt>
    <dgm:pt modelId="{9F88258B-79FD-410A-A71E-2E74F8CF6746}">
      <dgm:prSet phldrT="[Text]"/>
      <dgm:spPr/>
      <dgm:t>
        <a:bodyPr/>
        <a:lstStyle/>
        <a:p>
          <a:r>
            <a:rPr lang="en-US"/>
            <a:t>MES</a:t>
          </a:r>
        </a:p>
      </dgm:t>
    </dgm:pt>
    <dgm:pt modelId="{4AA58039-4C0A-4C41-9BD2-227BB209DC5A}" type="parTrans" cxnId="{102569F9-A9E7-42B3-B77A-4D5461844A4A}">
      <dgm:prSet/>
      <dgm:spPr/>
      <dgm:t>
        <a:bodyPr/>
        <a:lstStyle/>
        <a:p>
          <a:endParaRPr lang="en-US"/>
        </a:p>
      </dgm:t>
    </dgm:pt>
    <dgm:pt modelId="{D3F99746-43D6-49FB-A20B-FF7717BC5D8F}" type="sibTrans" cxnId="{102569F9-A9E7-42B3-B77A-4D5461844A4A}">
      <dgm:prSet/>
      <dgm:spPr/>
      <dgm:t>
        <a:bodyPr/>
        <a:lstStyle/>
        <a:p>
          <a:endParaRPr lang="en-US"/>
        </a:p>
      </dgm:t>
    </dgm:pt>
    <dgm:pt modelId="{AADD6423-F1DF-450B-A480-5EAB916C1139}">
      <dgm:prSet phldrT="[Text]"/>
      <dgm:spPr/>
      <dgm:t>
        <a:bodyPr/>
        <a:lstStyle/>
        <a:p>
          <a:r>
            <a:rPr lang="en-US"/>
            <a:t>Orion</a:t>
          </a:r>
        </a:p>
      </dgm:t>
    </dgm:pt>
    <dgm:pt modelId="{D0610515-652F-4ABC-8C80-99CAEA7F55D6}" type="parTrans" cxnId="{D85C696A-1416-43D1-A893-07080958792F}">
      <dgm:prSet/>
      <dgm:spPr/>
      <dgm:t>
        <a:bodyPr/>
        <a:lstStyle/>
        <a:p>
          <a:endParaRPr lang="en-US"/>
        </a:p>
      </dgm:t>
    </dgm:pt>
    <dgm:pt modelId="{DBF7496C-81DF-4AD4-A41F-8E53EBA0642E}" type="sibTrans" cxnId="{D85C696A-1416-43D1-A893-07080958792F}">
      <dgm:prSet/>
      <dgm:spPr/>
      <dgm:t>
        <a:bodyPr/>
        <a:lstStyle/>
        <a:p>
          <a:endParaRPr lang="en-US"/>
        </a:p>
      </dgm:t>
    </dgm:pt>
    <dgm:pt modelId="{4160ABBA-B0DF-4552-B9D0-29DF1870231C}">
      <dgm:prSet phldrT="[Text]"/>
      <dgm:spPr/>
      <dgm:t>
        <a:bodyPr/>
        <a:lstStyle/>
        <a:p>
          <a:r>
            <a:rPr lang="en-US"/>
            <a:t>APS</a:t>
          </a:r>
        </a:p>
      </dgm:t>
    </dgm:pt>
    <dgm:pt modelId="{C838453D-1C48-4002-89FF-BBF90EA3D800}" type="parTrans" cxnId="{695E1AA8-4C4E-48C3-81C1-8AA0B97D3AB3}">
      <dgm:prSet/>
      <dgm:spPr/>
      <dgm:t>
        <a:bodyPr/>
        <a:lstStyle/>
        <a:p>
          <a:endParaRPr lang="en-US"/>
        </a:p>
      </dgm:t>
    </dgm:pt>
    <dgm:pt modelId="{E91C0A2D-C0BF-43EC-9BBB-CA204F4F1FCB}" type="sibTrans" cxnId="{695E1AA8-4C4E-48C3-81C1-8AA0B97D3AB3}">
      <dgm:prSet/>
      <dgm:spPr/>
      <dgm:t>
        <a:bodyPr/>
        <a:lstStyle/>
        <a:p>
          <a:endParaRPr lang="en-US"/>
        </a:p>
      </dgm:t>
    </dgm:pt>
    <dgm:pt modelId="{BA961678-0115-44BA-848E-02DD0FD67887}">
      <dgm:prSet phldrT="[Text]"/>
      <dgm:spPr/>
      <dgm:t>
        <a:bodyPr/>
        <a:lstStyle/>
        <a:p>
          <a:r>
            <a:rPr lang="en-US"/>
            <a:t>Sanmina (Partner)</a:t>
          </a:r>
        </a:p>
      </dgm:t>
    </dgm:pt>
    <dgm:pt modelId="{B260E1EF-46AE-4671-9540-1FD6F10EB784}" type="parTrans" cxnId="{C1508EEF-AB38-44F0-89FB-D1290130DC36}">
      <dgm:prSet/>
      <dgm:spPr/>
      <dgm:t>
        <a:bodyPr/>
        <a:lstStyle/>
        <a:p>
          <a:endParaRPr lang="en-US"/>
        </a:p>
      </dgm:t>
    </dgm:pt>
    <dgm:pt modelId="{66CA86B8-D04D-4184-9DC9-144DFB789FA1}" type="sibTrans" cxnId="{C1508EEF-AB38-44F0-89FB-D1290130DC36}">
      <dgm:prSet/>
      <dgm:spPr/>
      <dgm:t>
        <a:bodyPr/>
        <a:lstStyle/>
        <a:p>
          <a:endParaRPr lang="en-US"/>
        </a:p>
      </dgm:t>
    </dgm:pt>
    <dgm:pt modelId="{316DA7B7-318D-499C-AF84-E26991F1B242}">
      <dgm:prSet phldrT="[Text]"/>
      <dgm:spPr/>
      <dgm:t>
        <a:bodyPr/>
        <a:lstStyle/>
        <a:p>
          <a:r>
            <a:rPr lang="en-US"/>
            <a:t>Salesforce</a:t>
          </a:r>
        </a:p>
      </dgm:t>
    </dgm:pt>
    <dgm:pt modelId="{8F38290E-CD76-41F1-BBB7-15085FD75EA4}" type="parTrans" cxnId="{14F149FB-2484-4CCE-92E5-8D7CA92F24E8}">
      <dgm:prSet/>
      <dgm:spPr/>
      <dgm:t>
        <a:bodyPr/>
        <a:lstStyle/>
        <a:p>
          <a:endParaRPr lang="en-US"/>
        </a:p>
      </dgm:t>
    </dgm:pt>
    <dgm:pt modelId="{24B65AEA-FD4A-433A-8DBA-0DAFDB8BB075}" type="sibTrans" cxnId="{14F149FB-2484-4CCE-92E5-8D7CA92F24E8}">
      <dgm:prSet/>
      <dgm:spPr/>
      <dgm:t>
        <a:bodyPr/>
        <a:lstStyle/>
        <a:p>
          <a:endParaRPr lang="en-US"/>
        </a:p>
      </dgm:t>
    </dgm:pt>
    <dgm:pt modelId="{2E49A67D-702B-4FF3-9A0D-CC0EA0106D0E}">
      <dgm:prSet phldrT="[Text]"/>
      <dgm:spPr/>
      <dgm:t>
        <a:bodyPr/>
        <a:lstStyle/>
        <a:p>
          <a:r>
            <a:rPr lang="en-US" dirty="0"/>
            <a:t>SmartSolve</a:t>
          </a:r>
        </a:p>
      </dgm:t>
    </dgm:pt>
    <dgm:pt modelId="{5859B40F-BAB6-4B2C-AA3F-A07CD80CECE2}" type="parTrans" cxnId="{02B34156-9D16-46C1-B03F-CC7BBB0A486E}">
      <dgm:prSet/>
      <dgm:spPr/>
      <dgm:t>
        <a:bodyPr/>
        <a:lstStyle/>
        <a:p>
          <a:endParaRPr lang="en-US"/>
        </a:p>
      </dgm:t>
    </dgm:pt>
    <dgm:pt modelId="{B2F4CD9D-65F4-4F60-A0F6-1B666BD91E60}" type="sibTrans" cxnId="{02B34156-9D16-46C1-B03F-CC7BBB0A486E}">
      <dgm:prSet/>
      <dgm:spPr/>
      <dgm:t>
        <a:bodyPr/>
        <a:lstStyle/>
        <a:p>
          <a:endParaRPr lang="en-US"/>
        </a:p>
      </dgm:t>
    </dgm:pt>
    <dgm:pt modelId="{9EC87B36-A6AE-4F4D-BAC1-6FB0D1A72101}">
      <dgm:prSet phldrT="[Text]"/>
      <dgm:spPr/>
      <dgm:t>
        <a:bodyPr/>
        <a:lstStyle/>
        <a:p>
          <a:r>
            <a:rPr lang="en-US"/>
            <a:t>GX TS (Q2)</a:t>
          </a:r>
        </a:p>
      </dgm:t>
    </dgm:pt>
    <dgm:pt modelId="{6781000E-9EAC-4437-8E61-6AEDD01CF7AD}" type="parTrans" cxnId="{8A0930D6-F97B-47ED-ACAD-068FABF3A51D}">
      <dgm:prSet/>
      <dgm:spPr/>
      <dgm:t>
        <a:bodyPr/>
        <a:lstStyle/>
        <a:p>
          <a:endParaRPr lang="en-US"/>
        </a:p>
      </dgm:t>
    </dgm:pt>
    <dgm:pt modelId="{32A2E468-EC78-4B2B-8ABE-835A6D997FE4}" type="sibTrans" cxnId="{8A0930D6-F97B-47ED-ACAD-068FABF3A51D}">
      <dgm:prSet/>
      <dgm:spPr/>
      <dgm:t>
        <a:bodyPr/>
        <a:lstStyle/>
        <a:p>
          <a:endParaRPr lang="en-US"/>
        </a:p>
      </dgm:t>
    </dgm:pt>
    <dgm:pt modelId="{7BAA6FEE-C9D9-4DB6-98BF-F0BF9D396EBD}">
      <dgm:prSet phldrT="[Text]"/>
      <dgm:spPr/>
      <dgm:t>
        <a:bodyPr/>
        <a:lstStyle/>
        <a:p>
          <a:r>
            <a:rPr lang="en-US"/>
            <a:t>PQ Manager (Q2)</a:t>
          </a:r>
        </a:p>
      </dgm:t>
    </dgm:pt>
    <dgm:pt modelId="{5593FBE2-F108-43D3-A1E6-95D316095FD8}" type="parTrans" cxnId="{E652D3A3-734A-4E34-AA90-AA7801828E9F}">
      <dgm:prSet/>
      <dgm:spPr/>
      <dgm:t>
        <a:bodyPr/>
        <a:lstStyle/>
        <a:p>
          <a:endParaRPr lang="en-US"/>
        </a:p>
      </dgm:t>
    </dgm:pt>
    <dgm:pt modelId="{B598F1A9-6DC0-41D1-BA0F-1401BAA7B4CF}" type="sibTrans" cxnId="{E652D3A3-734A-4E34-AA90-AA7801828E9F}">
      <dgm:prSet/>
      <dgm:spPr/>
      <dgm:t>
        <a:bodyPr/>
        <a:lstStyle/>
        <a:p>
          <a:endParaRPr lang="en-US"/>
        </a:p>
      </dgm:t>
    </dgm:pt>
    <dgm:pt modelId="{DD4BFF54-0F58-40CA-BF4F-625FC5EF6994}">
      <dgm:prSet phldrT="[Text]"/>
      <dgm:spPr/>
      <dgm:t>
        <a:bodyPr/>
        <a:lstStyle/>
        <a:p>
          <a:r>
            <a:rPr lang="en-US"/>
            <a:t>BMRAM (Q2)</a:t>
          </a:r>
        </a:p>
      </dgm:t>
    </dgm:pt>
    <dgm:pt modelId="{1DE715FC-2A40-49D9-BC57-411A9E4EDE49}" type="parTrans" cxnId="{1FA29692-9F3B-4964-8178-824BCEE41404}">
      <dgm:prSet/>
      <dgm:spPr/>
      <dgm:t>
        <a:bodyPr/>
        <a:lstStyle/>
        <a:p>
          <a:endParaRPr lang="en-US"/>
        </a:p>
      </dgm:t>
    </dgm:pt>
    <dgm:pt modelId="{7D3F1A59-E360-4513-97D2-6BE58D3808A8}" type="sibTrans" cxnId="{1FA29692-9F3B-4964-8178-824BCEE41404}">
      <dgm:prSet/>
      <dgm:spPr/>
      <dgm:t>
        <a:bodyPr/>
        <a:lstStyle/>
        <a:p>
          <a:endParaRPr lang="en-US"/>
        </a:p>
      </dgm:t>
    </dgm:pt>
    <dgm:pt modelId="{6E4DD459-E3EA-4B87-AEF6-49F44D03F959}">
      <dgm:prSet phldrT="[Text]"/>
      <dgm:spPr/>
      <dgm:t>
        <a:bodyPr/>
        <a:lstStyle/>
        <a:p>
          <a:r>
            <a:rPr lang="en-US"/>
            <a:t>Rockwell US Archive</a:t>
          </a:r>
        </a:p>
      </dgm:t>
    </dgm:pt>
    <dgm:pt modelId="{F557386F-7173-47D8-B6F4-4A0F26AD924A}" type="parTrans" cxnId="{A795A76E-B150-4683-B1F5-C837545DE1F9}">
      <dgm:prSet/>
      <dgm:spPr/>
      <dgm:t>
        <a:bodyPr/>
        <a:lstStyle/>
        <a:p>
          <a:endParaRPr lang="en-US"/>
        </a:p>
      </dgm:t>
    </dgm:pt>
    <dgm:pt modelId="{3259100B-31AB-4723-B970-06DEEE3F981B}" type="sibTrans" cxnId="{A795A76E-B150-4683-B1F5-C837545DE1F9}">
      <dgm:prSet/>
      <dgm:spPr/>
      <dgm:t>
        <a:bodyPr/>
        <a:lstStyle/>
        <a:p>
          <a:endParaRPr lang="en-US"/>
        </a:p>
      </dgm:t>
    </dgm:pt>
    <dgm:pt modelId="{6E75DA19-4C8F-4DF3-BBBD-FD546AE82C34}">
      <dgm:prSet phldrT="[Text]"/>
      <dgm:spPr/>
      <dgm:t>
        <a:bodyPr/>
        <a:lstStyle/>
        <a:p>
          <a:r>
            <a:rPr lang="en-US"/>
            <a:t>Planning Analytics TM1</a:t>
          </a:r>
        </a:p>
      </dgm:t>
    </dgm:pt>
    <dgm:pt modelId="{5292C07E-FAEC-4384-8260-3AE532B8A590}" type="parTrans" cxnId="{ECE97D4C-6396-46A4-AAA5-342DF01BAFE8}">
      <dgm:prSet/>
      <dgm:spPr/>
      <dgm:t>
        <a:bodyPr/>
        <a:lstStyle/>
        <a:p>
          <a:endParaRPr lang="en-US"/>
        </a:p>
      </dgm:t>
    </dgm:pt>
    <dgm:pt modelId="{A8805B27-35B8-4D90-9DB8-5060F42BAA0C}" type="sibTrans" cxnId="{ECE97D4C-6396-46A4-AAA5-342DF01BAFE8}">
      <dgm:prSet/>
      <dgm:spPr/>
      <dgm:t>
        <a:bodyPr/>
        <a:lstStyle/>
        <a:p>
          <a:endParaRPr lang="en-US"/>
        </a:p>
      </dgm:t>
    </dgm:pt>
    <dgm:pt modelId="{5192D7BA-FB04-45F0-A865-8E95CB9CE86A}" type="pres">
      <dgm:prSet presAssocID="{F23AD10E-2399-419F-9B83-85FD49F30C82}" presName="diagram" presStyleCnt="0">
        <dgm:presLayoutVars>
          <dgm:dir/>
          <dgm:resizeHandles val="exact"/>
        </dgm:presLayoutVars>
      </dgm:prSet>
      <dgm:spPr/>
    </dgm:pt>
    <dgm:pt modelId="{1E769369-BD0C-40FF-8A79-4D6093BAA2E2}" type="pres">
      <dgm:prSet presAssocID="{EC26DE9D-5614-44FC-A5B5-BA6B7D75A068}" presName="node" presStyleLbl="node1" presStyleIdx="0" presStyleCnt="12">
        <dgm:presLayoutVars>
          <dgm:bulletEnabled val="1"/>
        </dgm:presLayoutVars>
      </dgm:prSet>
      <dgm:spPr/>
    </dgm:pt>
    <dgm:pt modelId="{F537BD48-7531-492B-AD62-DB1C94F61BDD}" type="pres">
      <dgm:prSet presAssocID="{F86E16DD-BBA8-41C4-93BF-F1FC2C92AB21}" presName="sibTrans" presStyleCnt="0"/>
      <dgm:spPr/>
    </dgm:pt>
    <dgm:pt modelId="{21261099-6BD0-4177-AAE6-3AA83266C0B2}" type="pres">
      <dgm:prSet presAssocID="{9F88258B-79FD-410A-A71E-2E74F8CF6746}" presName="node" presStyleLbl="node1" presStyleIdx="1" presStyleCnt="12">
        <dgm:presLayoutVars>
          <dgm:bulletEnabled val="1"/>
        </dgm:presLayoutVars>
      </dgm:prSet>
      <dgm:spPr/>
    </dgm:pt>
    <dgm:pt modelId="{9ABC5FD6-CC0B-4688-801D-91DA2EB6009B}" type="pres">
      <dgm:prSet presAssocID="{D3F99746-43D6-49FB-A20B-FF7717BC5D8F}" presName="sibTrans" presStyleCnt="0"/>
      <dgm:spPr/>
    </dgm:pt>
    <dgm:pt modelId="{971A6D76-8130-4DB9-9F31-B225E026D382}" type="pres">
      <dgm:prSet presAssocID="{AADD6423-F1DF-450B-A480-5EAB916C1139}" presName="node" presStyleLbl="node1" presStyleIdx="2" presStyleCnt="12">
        <dgm:presLayoutVars>
          <dgm:bulletEnabled val="1"/>
        </dgm:presLayoutVars>
      </dgm:prSet>
      <dgm:spPr/>
    </dgm:pt>
    <dgm:pt modelId="{F97C3326-3E9D-4525-B711-B49250962B97}" type="pres">
      <dgm:prSet presAssocID="{DBF7496C-81DF-4AD4-A41F-8E53EBA0642E}" presName="sibTrans" presStyleCnt="0"/>
      <dgm:spPr/>
    </dgm:pt>
    <dgm:pt modelId="{5DB8FF03-1F4D-440A-A800-97039B2E4DCA}" type="pres">
      <dgm:prSet presAssocID="{4160ABBA-B0DF-4552-B9D0-29DF1870231C}" presName="node" presStyleLbl="node1" presStyleIdx="3" presStyleCnt="12">
        <dgm:presLayoutVars>
          <dgm:bulletEnabled val="1"/>
        </dgm:presLayoutVars>
      </dgm:prSet>
      <dgm:spPr/>
    </dgm:pt>
    <dgm:pt modelId="{09A16862-F912-499C-B6AC-D502C1FED2AC}" type="pres">
      <dgm:prSet presAssocID="{E91C0A2D-C0BF-43EC-9BBB-CA204F4F1FCB}" presName="sibTrans" presStyleCnt="0"/>
      <dgm:spPr/>
    </dgm:pt>
    <dgm:pt modelId="{716596C1-402A-456C-8B04-30DE9D8CFC1B}" type="pres">
      <dgm:prSet presAssocID="{BA961678-0115-44BA-848E-02DD0FD67887}" presName="node" presStyleLbl="node1" presStyleIdx="4" presStyleCnt="12">
        <dgm:presLayoutVars>
          <dgm:bulletEnabled val="1"/>
        </dgm:presLayoutVars>
      </dgm:prSet>
      <dgm:spPr/>
    </dgm:pt>
    <dgm:pt modelId="{1F211C8C-ED2A-4766-AE04-D62C0E1D66A9}" type="pres">
      <dgm:prSet presAssocID="{66CA86B8-D04D-4184-9DC9-144DFB789FA1}" presName="sibTrans" presStyleCnt="0"/>
      <dgm:spPr/>
    </dgm:pt>
    <dgm:pt modelId="{3BF8B3E7-77D9-4757-9594-196AE62D3014}" type="pres">
      <dgm:prSet presAssocID="{316DA7B7-318D-499C-AF84-E26991F1B242}" presName="node" presStyleLbl="node1" presStyleIdx="5" presStyleCnt="12">
        <dgm:presLayoutVars>
          <dgm:bulletEnabled val="1"/>
        </dgm:presLayoutVars>
      </dgm:prSet>
      <dgm:spPr/>
    </dgm:pt>
    <dgm:pt modelId="{5FD72421-461C-481C-8229-00E430250570}" type="pres">
      <dgm:prSet presAssocID="{24B65AEA-FD4A-433A-8DBA-0DAFDB8BB075}" presName="sibTrans" presStyleCnt="0"/>
      <dgm:spPr/>
    </dgm:pt>
    <dgm:pt modelId="{345B7083-BDE4-41C5-A73E-C7B14E85801C}" type="pres">
      <dgm:prSet presAssocID="{2E49A67D-702B-4FF3-9A0D-CC0EA0106D0E}" presName="node" presStyleLbl="node1" presStyleIdx="6" presStyleCnt="12">
        <dgm:presLayoutVars>
          <dgm:bulletEnabled val="1"/>
        </dgm:presLayoutVars>
      </dgm:prSet>
      <dgm:spPr/>
    </dgm:pt>
    <dgm:pt modelId="{780A798E-E76B-47F1-9BA7-1EDAF9FEA471}" type="pres">
      <dgm:prSet presAssocID="{B2F4CD9D-65F4-4F60-A0F6-1B666BD91E60}" presName="sibTrans" presStyleCnt="0"/>
      <dgm:spPr/>
    </dgm:pt>
    <dgm:pt modelId="{8A945134-93D2-4F99-98C8-6F04E8057232}" type="pres">
      <dgm:prSet presAssocID="{6E4DD459-E3EA-4B87-AEF6-49F44D03F959}" presName="node" presStyleLbl="node1" presStyleIdx="7" presStyleCnt="12">
        <dgm:presLayoutVars>
          <dgm:bulletEnabled val="1"/>
        </dgm:presLayoutVars>
      </dgm:prSet>
      <dgm:spPr/>
    </dgm:pt>
    <dgm:pt modelId="{755DE31C-2BB7-4BD5-BA1C-6D251F3D4674}" type="pres">
      <dgm:prSet presAssocID="{3259100B-31AB-4723-B970-06DEEE3F981B}" presName="sibTrans" presStyleCnt="0"/>
      <dgm:spPr/>
    </dgm:pt>
    <dgm:pt modelId="{92E10681-1868-4067-B5A4-C16539AB77C5}" type="pres">
      <dgm:prSet presAssocID="{6E75DA19-4C8F-4DF3-BBBD-FD546AE82C34}" presName="node" presStyleLbl="node1" presStyleIdx="8" presStyleCnt="12">
        <dgm:presLayoutVars>
          <dgm:bulletEnabled val="1"/>
        </dgm:presLayoutVars>
      </dgm:prSet>
      <dgm:spPr/>
    </dgm:pt>
    <dgm:pt modelId="{131BC86B-2D17-4B91-9A05-D08399C8D166}" type="pres">
      <dgm:prSet presAssocID="{A8805B27-35B8-4D90-9DB8-5060F42BAA0C}" presName="sibTrans" presStyleCnt="0"/>
      <dgm:spPr/>
    </dgm:pt>
    <dgm:pt modelId="{D6C42AA0-32FA-4548-B692-5C91B10B20D2}" type="pres">
      <dgm:prSet presAssocID="{9EC87B36-A6AE-4F4D-BAC1-6FB0D1A72101}" presName="node" presStyleLbl="node1" presStyleIdx="9" presStyleCnt="12">
        <dgm:presLayoutVars>
          <dgm:bulletEnabled val="1"/>
        </dgm:presLayoutVars>
      </dgm:prSet>
      <dgm:spPr/>
    </dgm:pt>
    <dgm:pt modelId="{267EB6F8-F915-4D65-B902-7CB566404776}" type="pres">
      <dgm:prSet presAssocID="{32A2E468-EC78-4B2B-8ABE-835A6D997FE4}" presName="sibTrans" presStyleCnt="0"/>
      <dgm:spPr/>
    </dgm:pt>
    <dgm:pt modelId="{65208CD4-C62F-4673-A757-A14BD90EDB9E}" type="pres">
      <dgm:prSet presAssocID="{7BAA6FEE-C9D9-4DB6-98BF-F0BF9D396EBD}" presName="node" presStyleLbl="node1" presStyleIdx="10" presStyleCnt="12">
        <dgm:presLayoutVars>
          <dgm:bulletEnabled val="1"/>
        </dgm:presLayoutVars>
      </dgm:prSet>
      <dgm:spPr/>
    </dgm:pt>
    <dgm:pt modelId="{55C3726D-C0E4-4085-B1F1-D35A0773E6A4}" type="pres">
      <dgm:prSet presAssocID="{B598F1A9-6DC0-41D1-BA0F-1401BAA7B4CF}" presName="sibTrans" presStyleCnt="0"/>
      <dgm:spPr/>
    </dgm:pt>
    <dgm:pt modelId="{25D9C8C9-F580-4A82-9209-66D6D42E22F0}" type="pres">
      <dgm:prSet presAssocID="{DD4BFF54-0F58-40CA-BF4F-625FC5EF6994}" presName="node" presStyleLbl="node1" presStyleIdx="11" presStyleCnt="12">
        <dgm:presLayoutVars>
          <dgm:bulletEnabled val="1"/>
        </dgm:presLayoutVars>
      </dgm:prSet>
      <dgm:spPr/>
    </dgm:pt>
  </dgm:ptLst>
  <dgm:cxnLst>
    <dgm:cxn modelId="{DEDA3200-5DF4-4F87-9D85-2D39A2CC2312}" type="presOf" srcId="{AADD6423-F1DF-450B-A480-5EAB916C1139}" destId="{971A6D76-8130-4DB9-9F31-B225E026D382}" srcOrd="0" destOrd="0" presId="urn:microsoft.com/office/officeart/2005/8/layout/default"/>
    <dgm:cxn modelId="{AC309C29-F728-4511-8218-7549582BA20C}" type="presOf" srcId="{6E4DD459-E3EA-4B87-AEF6-49F44D03F959}" destId="{8A945134-93D2-4F99-98C8-6F04E8057232}" srcOrd="0" destOrd="0" presId="urn:microsoft.com/office/officeart/2005/8/layout/default"/>
    <dgm:cxn modelId="{60D56D63-324E-4DEA-8937-67E7F2AD2C8C}" type="presOf" srcId="{DD4BFF54-0F58-40CA-BF4F-625FC5EF6994}" destId="{25D9C8C9-F580-4A82-9209-66D6D42E22F0}" srcOrd="0" destOrd="0" presId="urn:microsoft.com/office/officeart/2005/8/layout/default"/>
    <dgm:cxn modelId="{D85C696A-1416-43D1-A893-07080958792F}" srcId="{F23AD10E-2399-419F-9B83-85FD49F30C82}" destId="{AADD6423-F1DF-450B-A480-5EAB916C1139}" srcOrd="2" destOrd="0" parTransId="{D0610515-652F-4ABC-8C80-99CAEA7F55D6}" sibTransId="{DBF7496C-81DF-4AD4-A41F-8E53EBA0642E}"/>
    <dgm:cxn modelId="{ECE97D4C-6396-46A4-AAA5-342DF01BAFE8}" srcId="{F23AD10E-2399-419F-9B83-85FD49F30C82}" destId="{6E75DA19-4C8F-4DF3-BBBD-FD546AE82C34}" srcOrd="8" destOrd="0" parTransId="{5292C07E-FAEC-4384-8260-3AE532B8A590}" sibTransId="{A8805B27-35B8-4D90-9DB8-5060F42BAA0C}"/>
    <dgm:cxn modelId="{A795A76E-B150-4683-B1F5-C837545DE1F9}" srcId="{F23AD10E-2399-419F-9B83-85FD49F30C82}" destId="{6E4DD459-E3EA-4B87-AEF6-49F44D03F959}" srcOrd="7" destOrd="0" parTransId="{F557386F-7173-47D8-B6F4-4A0F26AD924A}" sibTransId="{3259100B-31AB-4723-B970-06DEEE3F981B}"/>
    <dgm:cxn modelId="{9FCABE53-03E5-47C5-A96A-D58F40196EC1}" type="presOf" srcId="{9EC87B36-A6AE-4F4D-BAC1-6FB0D1A72101}" destId="{D6C42AA0-32FA-4548-B692-5C91B10B20D2}" srcOrd="0" destOrd="0" presId="urn:microsoft.com/office/officeart/2005/8/layout/default"/>
    <dgm:cxn modelId="{02B34156-9D16-46C1-B03F-CC7BBB0A486E}" srcId="{F23AD10E-2399-419F-9B83-85FD49F30C82}" destId="{2E49A67D-702B-4FF3-9A0D-CC0EA0106D0E}" srcOrd="6" destOrd="0" parTransId="{5859B40F-BAB6-4B2C-AA3F-A07CD80CECE2}" sibTransId="{B2F4CD9D-65F4-4F60-A0F6-1B666BD91E60}"/>
    <dgm:cxn modelId="{2E436E7A-3F6E-49DF-A49A-1B6036ED7CCD}" srcId="{F23AD10E-2399-419F-9B83-85FD49F30C82}" destId="{EC26DE9D-5614-44FC-A5B5-BA6B7D75A068}" srcOrd="0" destOrd="0" parTransId="{25CFF0E2-E30D-4F4F-9933-9AA404F8D1DD}" sibTransId="{F86E16DD-BBA8-41C4-93BF-F1FC2C92AB21}"/>
    <dgm:cxn modelId="{55B6408C-5902-4614-B41E-0AEE5757E051}" type="presOf" srcId="{316DA7B7-318D-499C-AF84-E26991F1B242}" destId="{3BF8B3E7-77D9-4757-9594-196AE62D3014}" srcOrd="0" destOrd="0" presId="urn:microsoft.com/office/officeart/2005/8/layout/default"/>
    <dgm:cxn modelId="{1FA29692-9F3B-4964-8178-824BCEE41404}" srcId="{F23AD10E-2399-419F-9B83-85FD49F30C82}" destId="{DD4BFF54-0F58-40CA-BF4F-625FC5EF6994}" srcOrd="11" destOrd="0" parTransId="{1DE715FC-2A40-49D9-BC57-411A9E4EDE49}" sibTransId="{7D3F1A59-E360-4513-97D2-6BE58D3808A8}"/>
    <dgm:cxn modelId="{4DB7D296-7D12-4B39-86F5-B9509851A7A7}" type="presOf" srcId="{9F88258B-79FD-410A-A71E-2E74F8CF6746}" destId="{21261099-6BD0-4177-AAE6-3AA83266C0B2}" srcOrd="0" destOrd="0" presId="urn:microsoft.com/office/officeart/2005/8/layout/default"/>
    <dgm:cxn modelId="{E652D3A3-734A-4E34-AA90-AA7801828E9F}" srcId="{F23AD10E-2399-419F-9B83-85FD49F30C82}" destId="{7BAA6FEE-C9D9-4DB6-98BF-F0BF9D396EBD}" srcOrd="10" destOrd="0" parTransId="{5593FBE2-F108-43D3-A1E6-95D316095FD8}" sibTransId="{B598F1A9-6DC0-41D1-BA0F-1401BAA7B4CF}"/>
    <dgm:cxn modelId="{695E1AA8-4C4E-48C3-81C1-8AA0B97D3AB3}" srcId="{F23AD10E-2399-419F-9B83-85FD49F30C82}" destId="{4160ABBA-B0DF-4552-B9D0-29DF1870231C}" srcOrd="3" destOrd="0" parTransId="{C838453D-1C48-4002-89FF-BBF90EA3D800}" sibTransId="{E91C0A2D-C0BF-43EC-9BBB-CA204F4F1FCB}"/>
    <dgm:cxn modelId="{F030FBB4-3D2C-4628-88DD-7086E34CFCD6}" type="presOf" srcId="{BA961678-0115-44BA-848E-02DD0FD67887}" destId="{716596C1-402A-456C-8B04-30DE9D8CFC1B}" srcOrd="0" destOrd="0" presId="urn:microsoft.com/office/officeart/2005/8/layout/default"/>
    <dgm:cxn modelId="{6289ADB6-CA9B-4993-85F2-056A2E6C1548}" type="presOf" srcId="{7BAA6FEE-C9D9-4DB6-98BF-F0BF9D396EBD}" destId="{65208CD4-C62F-4673-A757-A14BD90EDB9E}" srcOrd="0" destOrd="0" presId="urn:microsoft.com/office/officeart/2005/8/layout/default"/>
    <dgm:cxn modelId="{3DDFB4BA-8455-4B0B-9BBA-B53D106BE8FA}" type="presOf" srcId="{2E49A67D-702B-4FF3-9A0D-CC0EA0106D0E}" destId="{345B7083-BDE4-41C5-A73E-C7B14E85801C}" srcOrd="0" destOrd="0" presId="urn:microsoft.com/office/officeart/2005/8/layout/default"/>
    <dgm:cxn modelId="{B71FF3D3-8D88-4728-AF91-4E284611F557}" type="presOf" srcId="{EC26DE9D-5614-44FC-A5B5-BA6B7D75A068}" destId="{1E769369-BD0C-40FF-8A79-4D6093BAA2E2}" srcOrd="0" destOrd="0" presId="urn:microsoft.com/office/officeart/2005/8/layout/default"/>
    <dgm:cxn modelId="{8A0930D6-F97B-47ED-ACAD-068FABF3A51D}" srcId="{F23AD10E-2399-419F-9B83-85FD49F30C82}" destId="{9EC87B36-A6AE-4F4D-BAC1-6FB0D1A72101}" srcOrd="9" destOrd="0" parTransId="{6781000E-9EAC-4437-8E61-6AEDD01CF7AD}" sibTransId="{32A2E468-EC78-4B2B-8ABE-835A6D997FE4}"/>
    <dgm:cxn modelId="{2DB21EE1-D22F-445B-9F1A-A798E1C4D294}" type="presOf" srcId="{4160ABBA-B0DF-4552-B9D0-29DF1870231C}" destId="{5DB8FF03-1F4D-440A-A800-97039B2E4DCA}" srcOrd="0" destOrd="0" presId="urn:microsoft.com/office/officeart/2005/8/layout/default"/>
    <dgm:cxn modelId="{BC4D5CE8-37A3-4EEF-A53E-BED9FB9CA547}" type="presOf" srcId="{6E75DA19-4C8F-4DF3-BBBD-FD546AE82C34}" destId="{92E10681-1868-4067-B5A4-C16539AB77C5}" srcOrd="0" destOrd="0" presId="urn:microsoft.com/office/officeart/2005/8/layout/default"/>
    <dgm:cxn modelId="{C1508EEF-AB38-44F0-89FB-D1290130DC36}" srcId="{F23AD10E-2399-419F-9B83-85FD49F30C82}" destId="{BA961678-0115-44BA-848E-02DD0FD67887}" srcOrd="4" destOrd="0" parTransId="{B260E1EF-46AE-4671-9540-1FD6F10EB784}" sibTransId="{66CA86B8-D04D-4184-9DC9-144DFB789FA1}"/>
    <dgm:cxn modelId="{7DBD77F4-E4A1-4658-B015-8C66C2E8B300}" type="presOf" srcId="{F23AD10E-2399-419F-9B83-85FD49F30C82}" destId="{5192D7BA-FB04-45F0-A865-8E95CB9CE86A}" srcOrd="0" destOrd="0" presId="urn:microsoft.com/office/officeart/2005/8/layout/default"/>
    <dgm:cxn modelId="{102569F9-A9E7-42B3-B77A-4D5461844A4A}" srcId="{F23AD10E-2399-419F-9B83-85FD49F30C82}" destId="{9F88258B-79FD-410A-A71E-2E74F8CF6746}" srcOrd="1" destOrd="0" parTransId="{4AA58039-4C0A-4C41-9BD2-227BB209DC5A}" sibTransId="{D3F99746-43D6-49FB-A20B-FF7717BC5D8F}"/>
    <dgm:cxn modelId="{14F149FB-2484-4CCE-92E5-8D7CA92F24E8}" srcId="{F23AD10E-2399-419F-9B83-85FD49F30C82}" destId="{316DA7B7-318D-499C-AF84-E26991F1B242}" srcOrd="5" destOrd="0" parTransId="{8F38290E-CD76-41F1-BBB7-15085FD75EA4}" sibTransId="{24B65AEA-FD4A-433A-8DBA-0DAFDB8BB075}"/>
    <dgm:cxn modelId="{4F2BD709-22F1-4F3D-964A-9DA195EDC80A}" type="presParOf" srcId="{5192D7BA-FB04-45F0-A865-8E95CB9CE86A}" destId="{1E769369-BD0C-40FF-8A79-4D6093BAA2E2}" srcOrd="0" destOrd="0" presId="urn:microsoft.com/office/officeart/2005/8/layout/default"/>
    <dgm:cxn modelId="{293790CF-A67C-424F-8586-1FFBD5517B09}" type="presParOf" srcId="{5192D7BA-FB04-45F0-A865-8E95CB9CE86A}" destId="{F537BD48-7531-492B-AD62-DB1C94F61BDD}" srcOrd="1" destOrd="0" presId="urn:microsoft.com/office/officeart/2005/8/layout/default"/>
    <dgm:cxn modelId="{171E5EE0-6400-4380-AF34-3F7AADD04E09}" type="presParOf" srcId="{5192D7BA-FB04-45F0-A865-8E95CB9CE86A}" destId="{21261099-6BD0-4177-AAE6-3AA83266C0B2}" srcOrd="2" destOrd="0" presId="urn:microsoft.com/office/officeart/2005/8/layout/default"/>
    <dgm:cxn modelId="{32B158B6-DF1D-4D5E-96F9-FEF514C96436}" type="presParOf" srcId="{5192D7BA-FB04-45F0-A865-8E95CB9CE86A}" destId="{9ABC5FD6-CC0B-4688-801D-91DA2EB6009B}" srcOrd="3" destOrd="0" presId="urn:microsoft.com/office/officeart/2005/8/layout/default"/>
    <dgm:cxn modelId="{38E46C2A-FD24-4556-8086-5C167B2F84DD}" type="presParOf" srcId="{5192D7BA-FB04-45F0-A865-8E95CB9CE86A}" destId="{971A6D76-8130-4DB9-9F31-B225E026D382}" srcOrd="4" destOrd="0" presId="urn:microsoft.com/office/officeart/2005/8/layout/default"/>
    <dgm:cxn modelId="{A3730873-2EF1-4C0F-9222-67A7866644C2}" type="presParOf" srcId="{5192D7BA-FB04-45F0-A865-8E95CB9CE86A}" destId="{F97C3326-3E9D-4525-B711-B49250962B97}" srcOrd="5" destOrd="0" presId="urn:microsoft.com/office/officeart/2005/8/layout/default"/>
    <dgm:cxn modelId="{F4A83B85-DB79-42E0-93E9-EB40FE218772}" type="presParOf" srcId="{5192D7BA-FB04-45F0-A865-8E95CB9CE86A}" destId="{5DB8FF03-1F4D-440A-A800-97039B2E4DCA}" srcOrd="6" destOrd="0" presId="urn:microsoft.com/office/officeart/2005/8/layout/default"/>
    <dgm:cxn modelId="{900232AC-6F43-4E36-9EC4-2A0639BDDD6E}" type="presParOf" srcId="{5192D7BA-FB04-45F0-A865-8E95CB9CE86A}" destId="{09A16862-F912-499C-B6AC-D502C1FED2AC}" srcOrd="7" destOrd="0" presId="urn:microsoft.com/office/officeart/2005/8/layout/default"/>
    <dgm:cxn modelId="{82F057D6-539A-4ECC-8612-20548FA35B16}" type="presParOf" srcId="{5192D7BA-FB04-45F0-A865-8E95CB9CE86A}" destId="{716596C1-402A-456C-8B04-30DE9D8CFC1B}" srcOrd="8" destOrd="0" presId="urn:microsoft.com/office/officeart/2005/8/layout/default"/>
    <dgm:cxn modelId="{02ECD7E7-B0E7-4FF5-A2D5-B9740DDDD82F}" type="presParOf" srcId="{5192D7BA-FB04-45F0-A865-8E95CB9CE86A}" destId="{1F211C8C-ED2A-4766-AE04-D62C0E1D66A9}" srcOrd="9" destOrd="0" presId="urn:microsoft.com/office/officeart/2005/8/layout/default"/>
    <dgm:cxn modelId="{19B04E09-A620-4823-A3C4-7DD2D6B0F06C}" type="presParOf" srcId="{5192D7BA-FB04-45F0-A865-8E95CB9CE86A}" destId="{3BF8B3E7-77D9-4757-9594-196AE62D3014}" srcOrd="10" destOrd="0" presId="urn:microsoft.com/office/officeart/2005/8/layout/default"/>
    <dgm:cxn modelId="{78687B43-E887-47CC-8794-12CB85E7EE33}" type="presParOf" srcId="{5192D7BA-FB04-45F0-A865-8E95CB9CE86A}" destId="{5FD72421-461C-481C-8229-00E430250570}" srcOrd="11" destOrd="0" presId="urn:microsoft.com/office/officeart/2005/8/layout/default"/>
    <dgm:cxn modelId="{63AD1BAB-4BB3-4DF9-83D3-32CAABC6CF8C}" type="presParOf" srcId="{5192D7BA-FB04-45F0-A865-8E95CB9CE86A}" destId="{345B7083-BDE4-41C5-A73E-C7B14E85801C}" srcOrd="12" destOrd="0" presId="urn:microsoft.com/office/officeart/2005/8/layout/default"/>
    <dgm:cxn modelId="{B09514B5-9D28-40DC-B211-04BBE5A4FFC2}" type="presParOf" srcId="{5192D7BA-FB04-45F0-A865-8E95CB9CE86A}" destId="{780A798E-E76B-47F1-9BA7-1EDAF9FEA471}" srcOrd="13" destOrd="0" presId="urn:microsoft.com/office/officeart/2005/8/layout/default"/>
    <dgm:cxn modelId="{880C1EF4-3CF7-44F9-9250-CDB8D862AB60}" type="presParOf" srcId="{5192D7BA-FB04-45F0-A865-8E95CB9CE86A}" destId="{8A945134-93D2-4F99-98C8-6F04E8057232}" srcOrd="14" destOrd="0" presId="urn:microsoft.com/office/officeart/2005/8/layout/default"/>
    <dgm:cxn modelId="{DDBA1DA1-4902-45C8-9CDF-FCC06B3EEBDA}" type="presParOf" srcId="{5192D7BA-FB04-45F0-A865-8E95CB9CE86A}" destId="{755DE31C-2BB7-4BD5-BA1C-6D251F3D4674}" srcOrd="15" destOrd="0" presId="urn:microsoft.com/office/officeart/2005/8/layout/default"/>
    <dgm:cxn modelId="{DD629060-7AD8-4676-A441-48613DF53234}" type="presParOf" srcId="{5192D7BA-FB04-45F0-A865-8E95CB9CE86A}" destId="{92E10681-1868-4067-B5A4-C16539AB77C5}" srcOrd="16" destOrd="0" presId="urn:microsoft.com/office/officeart/2005/8/layout/default"/>
    <dgm:cxn modelId="{BFBD0906-1FA0-474D-A641-0C762F71B4CF}" type="presParOf" srcId="{5192D7BA-FB04-45F0-A865-8E95CB9CE86A}" destId="{131BC86B-2D17-4B91-9A05-D08399C8D166}" srcOrd="17" destOrd="0" presId="urn:microsoft.com/office/officeart/2005/8/layout/default"/>
    <dgm:cxn modelId="{12AA7FA4-D539-416C-8C66-BF4807594B12}" type="presParOf" srcId="{5192D7BA-FB04-45F0-A865-8E95CB9CE86A}" destId="{D6C42AA0-32FA-4548-B692-5C91B10B20D2}" srcOrd="18" destOrd="0" presId="urn:microsoft.com/office/officeart/2005/8/layout/default"/>
    <dgm:cxn modelId="{76AE96F4-93E1-4997-AE83-AE2E035D7FBE}" type="presParOf" srcId="{5192D7BA-FB04-45F0-A865-8E95CB9CE86A}" destId="{267EB6F8-F915-4D65-B902-7CB566404776}" srcOrd="19" destOrd="0" presId="urn:microsoft.com/office/officeart/2005/8/layout/default"/>
    <dgm:cxn modelId="{088E58DE-CACA-4504-A65F-D88A82EDBA21}" type="presParOf" srcId="{5192D7BA-FB04-45F0-A865-8E95CB9CE86A}" destId="{65208CD4-C62F-4673-A757-A14BD90EDB9E}" srcOrd="20" destOrd="0" presId="urn:microsoft.com/office/officeart/2005/8/layout/default"/>
    <dgm:cxn modelId="{24C3086B-4327-4A34-B8AF-CC27AF5FB40E}" type="presParOf" srcId="{5192D7BA-FB04-45F0-A865-8E95CB9CE86A}" destId="{55C3726D-C0E4-4085-B1F1-D35A0773E6A4}" srcOrd="21" destOrd="0" presId="urn:microsoft.com/office/officeart/2005/8/layout/default"/>
    <dgm:cxn modelId="{A251544D-CBAE-4A70-AE03-37A0934E59BA}" type="presParOf" srcId="{5192D7BA-FB04-45F0-A865-8E95CB9CE86A}" destId="{25D9C8C9-F580-4A82-9209-66D6D42E22F0}" srcOrd="2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AC099A-2D80-41BE-8E55-766C4A0386BB}">
      <dsp:nvSpPr>
        <dsp:cNvPr id="0" name=""/>
        <dsp:cNvSpPr/>
      </dsp:nvSpPr>
      <dsp:spPr>
        <a:xfrm>
          <a:off x="275567" y="78281"/>
          <a:ext cx="1011638" cy="1011638"/>
        </a:xfrm>
        <a:prstGeom prst="pie">
          <a:avLst>
            <a:gd name="adj1" fmla="val 16200000"/>
            <a:gd name="adj2" fmla="val 1800000"/>
          </a:avLst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Data Governance</a:t>
          </a:r>
        </a:p>
      </dsp:txBody>
      <dsp:txXfrm>
        <a:off x="808724" y="292652"/>
        <a:ext cx="361299" cy="301082"/>
      </dsp:txXfrm>
    </dsp:sp>
    <dsp:sp modelId="{EFBF1576-DAE3-4101-99FD-EE917642CDFE}">
      <dsp:nvSpPr>
        <dsp:cNvPr id="0" name=""/>
        <dsp:cNvSpPr/>
      </dsp:nvSpPr>
      <dsp:spPr>
        <a:xfrm>
          <a:off x="254732" y="114411"/>
          <a:ext cx="1011638" cy="1011638"/>
        </a:xfrm>
        <a:prstGeom prst="pie">
          <a:avLst>
            <a:gd name="adj1" fmla="val 1800000"/>
            <a:gd name="adj2" fmla="val 9000000"/>
          </a:avLst>
        </a:prstGeom>
        <a:solidFill>
          <a:schemeClr val="accent3">
            <a:shade val="80000"/>
            <a:hueOff val="-290330"/>
            <a:satOff val="5043"/>
            <a:lumOff val="1482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Data Platform &amp; Engineering</a:t>
          </a:r>
        </a:p>
      </dsp:txBody>
      <dsp:txXfrm>
        <a:off x="495598" y="770772"/>
        <a:ext cx="541949" cy="264953"/>
      </dsp:txXfrm>
    </dsp:sp>
    <dsp:sp modelId="{DCD3F1DB-75A8-4D59-80B3-4F42E04D0DB7}">
      <dsp:nvSpPr>
        <dsp:cNvPr id="0" name=""/>
        <dsp:cNvSpPr/>
      </dsp:nvSpPr>
      <dsp:spPr>
        <a:xfrm>
          <a:off x="233897" y="78281"/>
          <a:ext cx="1011638" cy="1011638"/>
        </a:xfrm>
        <a:prstGeom prst="pie">
          <a:avLst>
            <a:gd name="adj1" fmla="val 9000000"/>
            <a:gd name="adj2" fmla="val 16200000"/>
          </a:avLst>
        </a:prstGeom>
        <a:solidFill>
          <a:schemeClr val="accent3">
            <a:shade val="80000"/>
            <a:hueOff val="-580660"/>
            <a:satOff val="10086"/>
            <a:lumOff val="2965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Advanced Analytics &amp; Reporting</a:t>
          </a:r>
        </a:p>
      </dsp:txBody>
      <dsp:txXfrm>
        <a:off x="351078" y="292652"/>
        <a:ext cx="361299" cy="301082"/>
      </dsp:txXfrm>
    </dsp:sp>
    <dsp:sp modelId="{4E00991C-238A-4AC0-8221-AB55F97F2FAF}">
      <dsp:nvSpPr>
        <dsp:cNvPr id="0" name=""/>
        <dsp:cNvSpPr/>
      </dsp:nvSpPr>
      <dsp:spPr>
        <a:xfrm>
          <a:off x="213025" y="15656"/>
          <a:ext cx="1136889" cy="1136889"/>
        </a:xfrm>
        <a:prstGeom prst="circularArrow">
          <a:avLst>
            <a:gd name="adj1" fmla="val 5085"/>
            <a:gd name="adj2" fmla="val 327528"/>
            <a:gd name="adj3" fmla="val 1472472"/>
            <a:gd name="adj4" fmla="val 16199432"/>
            <a:gd name="adj5" fmla="val 5932"/>
          </a:avLst>
        </a:prstGeom>
        <a:solidFill>
          <a:schemeClr val="accent3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779A2C-4851-4131-98DF-0E46AF6C9523}">
      <dsp:nvSpPr>
        <dsp:cNvPr id="0" name=""/>
        <dsp:cNvSpPr/>
      </dsp:nvSpPr>
      <dsp:spPr>
        <a:xfrm>
          <a:off x="192106" y="51722"/>
          <a:ext cx="1136889" cy="1136889"/>
        </a:xfrm>
        <a:prstGeom prst="circularArrow">
          <a:avLst>
            <a:gd name="adj1" fmla="val 5085"/>
            <a:gd name="adj2" fmla="val 327528"/>
            <a:gd name="adj3" fmla="val 8671970"/>
            <a:gd name="adj4" fmla="val 1800502"/>
            <a:gd name="adj5" fmla="val 5932"/>
          </a:avLst>
        </a:prstGeom>
        <a:solidFill>
          <a:schemeClr val="accent3">
            <a:shade val="90000"/>
            <a:hueOff val="-290336"/>
            <a:satOff val="2707"/>
            <a:lumOff val="1346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68243E-5E97-44B6-899F-EDB178221F90}">
      <dsp:nvSpPr>
        <dsp:cNvPr id="0" name=""/>
        <dsp:cNvSpPr/>
      </dsp:nvSpPr>
      <dsp:spPr>
        <a:xfrm>
          <a:off x="171188" y="15656"/>
          <a:ext cx="1136889" cy="1136889"/>
        </a:xfrm>
        <a:prstGeom prst="circularArrow">
          <a:avLst>
            <a:gd name="adj1" fmla="val 5085"/>
            <a:gd name="adj2" fmla="val 327528"/>
            <a:gd name="adj3" fmla="val 15873039"/>
            <a:gd name="adj4" fmla="val 9000000"/>
            <a:gd name="adj5" fmla="val 5932"/>
          </a:avLst>
        </a:prstGeom>
        <a:solidFill>
          <a:schemeClr val="accent3">
            <a:shade val="90000"/>
            <a:hueOff val="-580672"/>
            <a:satOff val="5413"/>
            <a:lumOff val="2692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769369-BD0C-40FF-8A79-4D6093BAA2E2}">
      <dsp:nvSpPr>
        <dsp:cNvPr id="0" name=""/>
        <dsp:cNvSpPr/>
      </dsp:nvSpPr>
      <dsp:spPr>
        <a:xfrm>
          <a:off x="1792" y="311294"/>
          <a:ext cx="1422190" cy="853314"/>
        </a:xfrm>
        <a:prstGeom prst="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Ignition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(3 Servers) </a:t>
          </a:r>
        </a:p>
      </dsp:txBody>
      <dsp:txXfrm>
        <a:off x="1792" y="311294"/>
        <a:ext cx="1422190" cy="853314"/>
      </dsp:txXfrm>
    </dsp:sp>
    <dsp:sp modelId="{21261099-6BD0-4177-AAE6-3AA83266C0B2}">
      <dsp:nvSpPr>
        <dsp:cNvPr id="0" name=""/>
        <dsp:cNvSpPr/>
      </dsp:nvSpPr>
      <dsp:spPr>
        <a:xfrm>
          <a:off x="1566202" y="311294"/>
          <a:ext cx="1422190" cy="853314"/>
        </a:xfrm>
        <a:prstGeom prst="rect">
          <a:avLst/>
        </a:prstGeom>
        <a:solidFill>
          <a:schemeClr val="accent1">
            <a:shade val="50000"/>
            <a:hueOff val="82143"/>
            <a:satOff val="-1195"/>
            <a:lumOff val="780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MES</a:t>
          </a:r>
        </a:p>
      </dsp:txBody>
      <dsp:txXfrm>
        <a:off x="1566202" y="311294"/>
        <a:ext cx="1422190" cy="853314"/>
      </dsp:txXfrm>
    </dsp:sp>
    <dsp:sp modelId="{971A6D76-8130-4DB9-9F31-B225E026D382}">
      <dsp:nvSpPr>
        <dsp:cNvPr id="0" name=""/>
        <dsp:cNvSpPr/>
      </dsp:nvSpPr>
      <dsp:spPr>
        <a:xfrm>
          <a:off x="3130611" y="311294"/>
          <a:ext cx="1422190" cy="853314"/>
        </a:xfrm>
        <a:prstGeom prst="rect">
          <a:avLst/>
        </a:prstGeom>
        <a:solidFill>
          <a:schemeClr val="accent1">
            <a:shade val="50000"/>
            <a:hueOff val="164286"/>
            <a:satOff val="-2390"/>
            <a:lumOff val="1560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Orion</a:t>
          </a:r>
        </a:p>
      </dsp:txBody>
      <dsp:txXfrm>
        <a:off x="3130611" y="311294"/>
        <a:ext cx="1422190" cy="853314"/>
      </dsp:txXfrm>
    </dsp:sp>
    <dsp:sp modelId="{5DB8FF03-1F4D-440A-A800-97039B2E4DCA}">
      <dsp:nvSpPr>
        <dsp:cNvPr id="0" name=""/>
        <dsp:cNvSpPr/>
      </dsp:nvSpPr>
      <dsp:spPr>
        <a:xfrm>
          <a:off x="4695020" y="311294"/>
          <a:ext cx="1422190" cy="853314"/>
        </a:xfrm>
        <a:prstGeom prst="rect">
          <a:avLst/>
        </a:prstGeom>
        <a:solidFill>
          <a:schemeClr val="accent1">
            <a:shade val="50000"/>
            <a:hueOff val="246428"/>
            <a:satOff val="-3585"/>
            <a:lumOff val="2340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APS</a:t>
          </a:r>
        </a:p>
      </dsp:txBody>
      <dsp:txXfrm>
        <a:off x="4695020" y="311294"/>
        <a:ext cx="1422190" cy="853314"/>
      </dsp:txXfrm>
    </dsp:sp>
    <dsp:sp modelId="{716596C1-402A-456C-8B04-30DE9D8CFC1B}">
      <dsp:nvSpPr>
        <dsp:cNvPr id="0" name=""/>
        <dsp:cNvSpPr/>
      </dsp:nvSpPr>
      <dsp:spPr>
        <a:xfrm>
          <a:off x="1792" y="1306827"/>
          <a:ext cx="1422190" cy="853314"/>
        </a:xfrm>
        <a:prstGeom prst="rect">
          <a:avLst/>
        </a:prstGeom>
        <a:solidFill>
          <a:schemeClr val="accent1">
            <a:shade val="50000"/>
            <a:hueOff val="328571"/>
            <a:satOff val="-4780"/>
            <a:lumOff val="3120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Sanmina (Partner)</a:t>
          </a:r>
        </a:p>
      </dsp:txBody>
      <dsp:txXfrm>
        <a:off x="1792" y="1306827"/>
        <a:ext cx="1422190" cy="853314"/>
      </dsp:txXfrm>
    </dsp:sp>
    <dsp:sp modelId="{3BF8B3E7-77D9-4757-9594-196AE62D3014}">
      <dsp:nvSpPr>
        <dsp:cNvPr id="0" name=""/>
        <dsp:cNvSpPr/>
      </dsp:nvSpPr>
      <dsp:spPr>
        <a:xfrm>
          <a:off x="1566202" y="1306827"/>
          <a:ext cx="1422190" cy="853314"/>
        </a:xfrm>
        <a:prstGeom prst="rect">
          <a:avLst/>
        </a:prstGeom>
        <a:solidFill>
          <a:schemeClr val="accent1">
            <a:shade val="50000"/>
            <a:hueOff val="410714"/>
            <a:satOff val="-5975"/>
            <a:lumOff val="3900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Salesforce</a:t>
          </a:r>
        </a:p>
      </dsp:txBody>
      <dsp:txXfrm>
        <a:off x="1566202" y="1306827"/>
        <a:ext cx="1422190" cy="853314"/>
      </dsp:txXfrm>
    </dsp:sp>
    <dsp:sp modelId="{345B7083-BDE4-41C5-A73E-C7B14E85801C}">
      <dsp:nvSpPr>
        <dsp:cNvPr id="0" name=""/>
        <dsp:cNvSpPr/>
      </dsp:nvSpPr>
      <dsp:spPr>
        <a:xfrm>
          <a:off x="3130611" y="1306827"/>
          <a:ext cx="1422190" cy="853314"/>
        </a:xfrm>
        <a:prstGeom prst="rect">
          <a:avLst/>
        </a:prstGeom>
        <a:solidFill>
          <a:schemeClr val="accent1">
            <a:shade val="50000"/>
            <a:hueOff val="492857"/>
            <a:satOff val="-7170"/>
            <a:lumOff val="4680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SmartSolve</a:t>
          </a:r>
        </a:p>
      </dsp:txBody>
      <dsp:txXfrm>
        <a:off x="3130611" y="1306827"/>
        <a:ext cx="1422190" cy="853314"/>
      </dsp:txXfrm>
    </dsp:sp>
    <dsp:sp modelId="{8A945134-93D2-4F99-98C8-6F04E8057232}">
      <dsp:nvSpPr>
        <dsp:cNvPr id="0" name=""/>
        <dsp:cNvSpPr/>
      </dsp:nvSpPr>
      <dsp:spPr>
        <a:xfrm>
          <a:off x="4695020" y="1306827"/>
          <a:ext cx="1422190" cy="853314"/>
        </a:xfrm>
        <a:prstGeom prst="rect">
          <a:avLst/>
        </a:prstGeom>
        <a:solidFill>
          <a:schemeClr val="accent1">
            <a:shade val="50000"/>
            <a:hueOff val="410714"/>
            <a:satOff val="-5975"/>
            <a:lumOff val="3900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Rockwell US Archive</a:t>
          </a:r>
        </a:p>
      </dsp:txBody>
      <dsp:txXfrm>
        <a:off x="4695020" y="1306827"/>
        <a:ext cx="1422190" cy="853314"/>
      </dsp:txXfrm>
    </dsp:sp>
    <dsp:sp modelId="{92E10681-1868-4067-B5A4-C16539AB77C5}">
      <dsp:nvSpPr>
        <dsp:cNvPr id="0" name=""/>
        <dsp:cNvSpPr/>
      </dsp:nvSpPr>
      <dsp:spPr>
        <a:xfrm>
          <a:off x="1792" y="2302361"/>
          <a:ext cx="1422190" cy="853314"/>
        </a:xfrm>
        <a:prstGeom prst="rect">
          <a:avLst/>
        </a:prstGeom>
        <a:solidFill>
          <a:schemeClr val="accent1">
            <a:shade val="50000"/>
            <a:hueOff val="328571"/>
            <a:satOff val="-4780"/>
            <a:lumOff val="3120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Planning Analytics TM1</a:t>
          </a:r>
        </a:p>
      </dsp:txBody>
      <dsp:txXfrm>
        <a:off x="1792" y="2302361"/>
        <a:ext cx="1422190" cy="853314"/>
      </dsp:txXfrm>
    </dsp:sp>
    <dsp:sp modelId="{D6C42AA0-32FA-4548-B692-5C91B10B20D2}">
      <dsp:nvSpPr>
        <dsp:cNvPr id="0" name=""/>
        <dsp:cNvSpPr/>
      </dsp:nvSpPr>
      <dsp:spPr>
        <a:xfrm>
          <a:off x="1566202" y="2302361"/>
          <a:ext cx="1422190" cy="853314"/>
        </a:xfrm>
        <a:prstGeom prst="rect">
          <a:avLst/>
        </a:prstGeom>
        <a:solidFill>
          <a:schemeClr val="accent1">
            <a:shade val="50000"/>
            <a:hueOff val="246428"/>
            <a:satOff val="-3585"/>
            <a:lumOff val="2340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GX TS (Q2)</a:t>
          </a:r>
        </a:p>
      </dsp:txBody>
      <dsp:txXfrm>
        <a:off x="1566202" y="2302361"/>
        <a:ext cx="1422190" cy="853314"/>
      </dsp:txXfrm>
    </dsp:sp>
    <dsp:sp modelId="{65208CD4-C62F-4673-A757-A14BD90EDB9E}">
      <dsp:nvSpPr>
        <dsp:cNvPr id="0" name=""/>
        <dsp:cNvSpPr/>
      </dsp:nvSpPr>
      <dsp:spPr>
        <a:xfrm>
          <a:off x="3130611" y="2302361"/>
          <a:ext cx="1422190" cy="853314"/>
        </a:xfrm>
        <a:prstGeom prst="rect">
          <a:avLst/>
        </a:prstGeom>
        <a:solidFill>
          <a:schemeClr val="accent1">
            <a:shade val="50000"/>
            <a:hueOff val="164286"/>
            <a:satOff val="-2390"/>
            <a:lumOff val="1560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PQ Manager (Q2)</a:t>
          </a:r>
        </a:p>
      </dsp:txBody>
      <dsp:txXfrm>
        <a:off x="3130611" y="2302361"/>
        <a:ext cx="1422190" cy="853314"/>
      </dsp:txXfrm>
    </dsp:sp>
    <dsp:sp modelId="{25D9C8C9-F580-4A82-9209-66D6D42E22F0}">
      <dsp:nvSpPr>
        <dsp:cNvPr id="0" name=""/>
        <dsp:cNvSpPr/>
      </dsp:nvSpPr>
      <dsp:spPr>
        <a:xfrm>
          <a:off x="4695020" y="2302361"/>
          <a:ext cx="1422190" cy="853314"/>
        </a:xfrm>
        <a:prstGeom prst="rect">
          <a:avLst/>
        </a:prstGeom>
        <a:solidFill>
          <a:schemeClr val="accent1">
            <a:shade val="50000"/>
            <a:hueOff val="82143"/>
            <a:satOff val="-1195"/>
            <a:lumOff val="780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BMRAM (Q2)</a:t>
          </a:r>
        </a:p>
      </dsp:txBody>
      <dsp:txXfrm>
        <a:off x="4695020" y="2302361"/>
        <a:ext cx="1422190" cy="8533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FABAC06-0265-446A-BAB8-09FBDA9490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r>
              <a:rPr lang="en-US" b="1">
                <a:solidFill>
                  <a:schemeClr val="accent2"/>
                </a:solidFill>
              </a:rPr>
              <a:t>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D81CD5-A979-44FF-817B-B7586FA28F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35B29879-624A-4B40-8C54-B39E156A9671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EB401B-A58D-4797-B30A-012C50F262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28A37E-7BCE-4DC3-AD27-8CAE0407E2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D3DEC8AA-C31C-496E-A5A6-D2FDAC7315A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44B5DCC3-7F53-E946-9237-3D0E7576506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8503" y="9119474"/>
            <a:ext cx="896502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3988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 b="1">
                <a:solidFill>
                  <a:schemeClr val="accent2"/>
                </a:solidFill>
              </a:defRPr>
            </a:lvl1pPr>
          </a:lstStyle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15E7C659-1109-3341-B531-1239D1071FC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F7DC19E9-4512-B642-9158-FD615C4F0827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39BB1A40-0FC2-0248-B02A-2A9E00F68A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8503" y="9119474"/>
            <a:ext cx="896502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85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304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DC19E9-4512-B642-9158-FD615C4F082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447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DC19E9-4512-B642-9158-FD615C4F082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0614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sz="1200" spc="-20">
                <a:solidFill>
                  <a:schemeClr val="bg1"/>
                </a:solidFill>
                <a:latin typeface="Arial" panose="020B0604020202020204" pitchFamily="34" charset="0"/>
                <a:ea typeface="新細明體" charset="0"/>
                <a:cs typeface="新細明體" charset="0"/>
              </a:rPr>
              <a:t> </a:t>
            </a:r>
          </a:p>
          <a:p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DC19E9-4512-B642-9158-FD615C4F082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3323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sz="1200" spc="-20">
                <a:solidFill>
                  <a:schemeClr val="bg1"/>
                </a:solidFill>
                <a:latin typeface="Arial" panose="020B0604020202020204" pitchFamily="34" charset="0"/>
                <a:ea typeface="新細明體" charset="0"/>
                <a:cs typeface="新細明體" charset="0"/>
              </a:rPr>
              <a:t> </a:t>
            </a:r>
          </a:p>
          <a:p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DC19E9-4512-B642-9158-FD615C4F082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99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28698CC-FB14-4DA3-B573-20AEDDFA9D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855"/>
            <a:ext cx="12191999" cy="685314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505219" y="4526979"/>
            <a:ext cx="6647555" cy="1263284"/>
          </a:xfrm>
          <a:prstGeom prst="rect">
            <a:avLst/>
          </a:prstGeom>
        </p:spPr>
        <p:txBody>
          <a:bodyPr/>
          <a:lstStyle>
            <a:lvl1pPr marL="0" indent="0" algn="l" rtl="0" fontAlgn="base">
              <a:lnSpc>
                <a:spcPct val="90000"/>
              </a:lnSpc>
              <a:spcBef>
                <a:spcPct val="0"/>
              </a:spcBef>
              <a:spcAft>
                <a:spcPts val="400"/>
              </a:spcAft>
              <a:buNone/>
              <a:defRPr kumimoji="1" lang="en-US" sz="1600" i="1" kern="1200" dirty="0">
                <a:solidFill>
                  <a:schemeClr val="accent6"/>
                </a:solidFill>
                <a:effectLst/>
                <a:latin typeface="+mj-lt"/>
                <a:ea typeface="PMingLiU" pitchFamily="18" charset="-120"/>
                <a:cs typeface="+mn-cs"/>
              </a:defRPr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en-US"/>
              <a:t>Subhead/Speaker Name</a:t>
            </a:r>
          </a:p>
          <a:p>
            <a:r>
              <a:rPr lang="en-US"/>
              <a:t>Date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05218" y="1406013"/>
            <a:ext cx="6647556" cy="3016979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lang="en-US" sz="3200" b="0" kern="1200" baseline="0" dirty="0" smtClean="0">
                <a:solidFill>
                  <a:schemeClr val="bg1"/>
                </a:solidFill>
                <a:effectLst/>
                <a:latin typeface="+mj-lt"/>
                <a:ea typeface="PMingLiU" pitchFamily="18" charset="-120"/>
                <a:cs typeface="+mn-cs"/>
              </a:defRPr>
            </a:lvl1pPr>
          </a:lstStyle>
          <a:p>
            <a:r>
              <a:rPr lang="en-US"/>
              <a:t>Presentation Title </a:t>
            </a:r>
            <a:br>
              <a:rPr lang="en-US"/>
            </a:br>
            <a:r>
              <a:rPr lang="en-US"/>
              <a:t>Can Be up to Three </a:t>
            </a:r>
            <a:br>
              <a:rPr lang="en-US"/>
            </a:br>
            <a:r>
              <a:rPr lang="en-US"/>
              <a:t>Lines in Length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5D767C12-1B00-4146-B1F0-C8C6BAC2591A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475139" y="6368444"/>
            <a:ext cx="564773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lang="en-US" sz="1200" kern="1200" smtClean="0">
                <a:solidFill>
                  <a:schemeClr val="bg2"/>
                </a:solidFill>
                <a:latin typeface="+mj-lt"/>
                <a:ea typeface="PMingLiU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9pPr>
          </a:lstStyle>
          <a:p>
            <a:pPr algn="l"/>
            <a:fld id="{EB2FDD38-120B-4B19-A7C2-2DBD26B4A366}" type="slidenum">
              <a:rPr lang="en-US" sz="800" b="0" i="0" smtClean="0">
                <a:solidFill>
                  <a:schemeClr val="bg1"/>
                </a:solidFill>
              </a:rPr>
              <a:pPr algn="l"/>
              <a:t>‹#›</a:t>
            </a:fld>
            <a:endParaRPr lang="en-US" sz="800" b="0" i="0">
              <a:solidFill>
                <a:schemeClr val="bg1"/>
              </a:solidFill>
            </a:endParaRP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798A7760-0B51-498F-8D40-78E41BDADDC3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701141" y="6373817"/>
            <a:ext cx="3068523" cy="273200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lang="en-US" sz="1200" kern="1200" smtClean="0">
                <a:solidFill>
                  <a:schemeClr val="bg2"/>
                </a:solidFill>
                <a:latin typeface="+mj-lt"/>
                <a:ea typeface="PMingLiU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1"/>
                </a:solidFill>
              </a:rPr>
              <a:t>©</a:t>
            </a:r>
            <a:r>
              <a:rPr lang="en-US" sz="800" b="0" i="0" baseline="0">
                <a:solidFill>
                  <a:schemeClr val="bg1"/>
                </a:solidFill>
              </a:rPr>
              <a:t> 2021 </a:t>
            </a:r>
            <a:r>
              <a:rPr lang="en-US" sz="800" b="0" i="0">
                <a:solidFill>
                  <a:schemeClr val="bg1"/>
                </a:solidFill>
              </a:rPr>
              <a:t>Cepheid</a:t>
            </a:r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56923ACA-EEED-8A42-B127-32F399379A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0970" y="509085"/>
            <a:ext cx="1257218" cy="665860"/>
          </a:xfrm>
          <a:prstGeom prst="rect">
            <a:avLst/>
          </a:prstGeom>
        </p:spPr>
      </p:pic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A5123D78-D755-0B4C-9EE5-E36AD2C6B47A}"/>
              </a:ext>
            </a:extLst>
          </p:cNvPr>
          <p:cNvSpPr txBox="1">
            <a:spLocks/>
          </p:cNvSpPr>
          <p:nvPr userDrawn="1"/>
        </p:nvSpPr>
        <p:spPr>
          <a:xfrm>
            <a:off x="701141" y="6373817"/>
            <a:ext cx="7772299" cy="273200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lang="en-US" sz="1200" kern="1200" smtClean="0">
                <a:solidFill>
                  <a:schemeClr val="bg2"/>
                </a:solidFill>
                <a:latin typeface="+mj-lt"/>
                <a:ea typeface="PMingLiU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1"/>
                </a:solidFill>
              </a:rPr>
              <a:t>© 2021 Cepheid. CONFIDENTIAL – SOLELY FOR INTERNAL USE BY CEPHEID ASSOCIATES.</a:t>
            </a:r>
          </a:p>
        </p:txBody>
      </p:sp>
    </p:spTree>
    <p:extLst>
      <p:ext uri="{BB962C8B-B14F-4D97-AF65-F5344CB8AC3E}">
        <p14:creationId xmlns:p14="http://schemas.microsoft.com/office/powerpoint/2010/main" val="41760953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505219" y="4526979"/>
            <a:ext cx="6647555" cy="1263284"/>
          </a:xfrm>
          <a:prstGeom prst="rect">
            <a:avLst/>
          </a:prstGeom>
        </p:spPr>
        <p:txBody>
          <a:bodyPr/>
          <a:lstStyle>
            <a:lvl1pPr marL="0" indent="0" algn="l" rtl="0" fontAlgn="base">
              <a:lnSpc>
                <a:spcPct val="90000"/>
              </a:lnSpc>
              <a:spcBef>
                <a:spcPct val="0"/>
              </a:spcBef>
              <a:spcAft>
                <a:spcPts val="400"/>
              </a:spcAft>
              <a:buNone/>
              <a:defRPr kumimoji="1" lang="en-US" sz="1600" i="1" kern="1200" dirty="0">
                <a:solidFill>
                  <a:schemeClr val="accent6"/>
                </a:solidFill>
                <a:effectLst/>
                <a:latin typeface="+mj-lt"/>
                <a:ea typeface="PMingLiU" pitchFamily="18" charset="-120"/>
                <a:cs typeface="+mn-cs"/>
              </a:defRPr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en-US"/>
              <a:t>Subhead/Speaker Name</a:t>
            </a:r>
          </a:p>
          <a:p>
            <a:r>
              <a:rPr lang="en-US"/>
              <a:t>Date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05218" y="1406013"/>
            <a:ext cx="6647556" cy="3016979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lang="en-US" sz="3200" b="0" kern="1200" baseline="0" dirty="0" smtClean="0">
                <a:solidFill>
                  <a:schemeClr val="bg1"/>
                </a:solidFill>
                <a:effectLst/>
                <a:latin typeface="+mj-lt"/>
                <a:ea typeface="PMingLiU" pitchFamily="18" charset="-120"/>
                <a:cs typeface="+mn-cs"/>
              </a:defRPr>
            </a:lvl1pPr>
          </a:lstStyle>
          <a:p>
            <a:r>
              <a:rPr lang="en-US"/>
              <a:t>Presentation Title </a:t>
            </a:r>
            <a:br>
              <a:rPr lang="en-US"/>
            </a:br>
            <a:r>
              <a:rPr lang="en-US"/>
              <a:t>Can Be up to Three </a:t>
            </a:r>
            <a:br>
              <a:rPr lang="en-US"/>
            </a:br>
            <a:r>
              <a:rPr lang="en-US"/>
              <a:t>Lines in Length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5D767C12-1B00-4146-B1F0-C8C6BAC2591A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475139" y="6368444"/>
            <a:ext cx="564773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lang="en-US" sz="1200" kern="1200" smtClean="0">
                <a:solidFill>
                  <a:schemeClr val="bg2"/>
                </a:solidFill>
                <a:latin typeface="+mj-lt"/>
                <a:ea typeface="PMingLiU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9pPr>
          </a:lstStyle>
          <a:p>
            <a:pPr algn="l"/>
            <a:fld id="{EB2FDD38-120B-4B19-A7C2-2DBD26B4A366}" type="slidenum">
              <a:rPr lang="en-US" sz="800" b="0" i="0" smtClean="0">
                <a:solidFill>
                  <a:schemeClr val="bg1"/>
                </a:solidFill>
              </a:rPr>
              <a:pPr algn="l"/>
              <a:t>‹#›</a:t>
            </a:fld>
            <a:endParaRPr lang="en-US" sz="800" b="0" i="0">
              <a:solidFill>
                <a:schemeClr val="bg1"/>
              </a:solidFill>
            </a:endParaRP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798A7760-0B51-498F-8D40-78E41BDADDC3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701141" y="6373817"/>
            <a:ext cx="6647555" cy="273200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lang="en-US" sz="1200" kern="1200" smtClean="0">
                <a:solidFill>
                  <a:schemeClr val="bg2"/>
                </a:solidFill>
                <a:latin typeface="+mj-lt"/>
                <a:ea typeface="PMingLiU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1"/>
                </a:solidFill>
              </a:rPr>
              <a:t>© 2021 Cepheid. CONFIDENTIAL – SOLELY FOR INTERNAL USE BY CEPHEID ASSOCIATES.</a:t>
            </a:r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56923ACA-EEED-8A42-B127-32F399379A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0970" y="509085"/>
            <a:ext cx="1257218" cy="66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622397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ansition_Gra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FDA6F9-8CA2-C149-949C-FEEBAA0A15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2428"/>
            <a:ext cx="12192000" cy="6853146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505219" y="4526979"/>
            <a:ext cx="6647555" cy="1263284"/>
          </a:xfrm>
          <a:prstGeom prst="rect">
            <a:avLst/>
          </a:prstGeom>
        </p:spPr>
        <p:txBody>
          <a:bodyPr/>
          <a:lstStyle>
            <a:lvl1pPr marL="0" indent="0" algn="l" rtl="0" fontAlgn="base">
              <a:lnSpc>
                <a:spcPct val="90000"/>
              </a:lnSpc>
              <a:spcBef>
                <a:spcPct val="0"/>
              </a:spcBef>
              <a:spcAft>
                <a:spcPts val="400"/>
              </a:spcAft>
              <a:buNone/>
              <a:defRPr kumimoji="1" lang="en-US" sz="1600" i="1" kern="1200" dirty="0">
                <a:solidFill>
                  <a:schemeClr val="accent6"/>
                </a:solidFill>
                <a:effectLst/>
                <a:latin typeface="+mj-lt"/>
                <a:ea typeface="PMingLiU" pitchFamily="18" charset="-120"/>
                <a:cs typeface="+mn-cs"/>
              </a:defRPr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en-US"/>
              <a:t>Subhead/Speaker Name</a:t>
            </a:r>
          </a:p>
          <a:p>
            <a:r>
              <a:rPr lang="en-US"/>
              <a:t>Date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05218" y="1415846"/>
            <a:ext cx="6647556" cy="3007145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lang="en-US" sz="3200" b="0" kern="1200" baseline="0" dirty="0" smtClean="0">
                <a:solidFill>
                  <a:schemeClr val="bg1"/>
                </a:solidFill>
                <a:effectLst/>
                <a:latin typeface="+mj-lt"/>
                <a:ea typeface="PMingLiU" pitchFamily="18" charset="-120"/>
                <a:cs typeface="+mn-cs"/>
              </a:defRPr>
            </a:lvl1pPr>
          </a:lstStyle>
          <a:p>
            <a:r>
              <a:rPr lang="en-US"/>
              <a:t>Presentation Title </a:t>
            </a:r>
            <a:br>
              <a:rPr lang="en-US"/>
            </a:br>
            <a:r>
              <a:rPr lang="en-US"/>
              <a:t>Can Be up to Three </a:t>
            </a:r>
            <a:br>
              <a:rPr lang="en-US"/>
            </a:br>
            <a:r>
              <a:rPr lang="en-US"/>
              <a:t>Lines in Length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5D767C12-1B00-4146-B1F0-C8C6BAC2591A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475139" y="6368444"/>
            <a:ext cx="564773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lang="en-US" sz="1200" kern="1200" smtClean="0">
                <a:solidFill>
                  <a:schemeClr val="bg2"/>
                </a:solidFill>
                <a:latin typeface="+mj-lt"/>
                <a:ea typeface="PMingLiU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9pPr>
          </a:lstStyle>
          <a:p>
            <a:pPr algn="l"/>
            <a:fld id="{EB2FDD38-120B-4B19-A7C2-2DBD26B4A366}" type="slidenum">
              <a:rPr lang="en-US" sz="800" b="0" i="0" smtClean="0">
                <a:solidFill>
                  <a:schemeClr val="bg1"/>
                </a:solidFill>
              </a:rPr>
              <a:pPr algn="l"/>
              <a:t>‹#›</a:t>
            </a:fld>
            <a:endParaRPr lang="en-US" sz="800" b="0" i="0">
              <a:solidFill>
                <a:schemeClr val="bg1"/>
              </a:solidFill>
            </a:endParaRP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798A7760-0B51-498F-8D40-78E41BDADDC3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701141" y="6373817"/>
            <a:ext cx="6898539" cy="273200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lang="en-US" sz="1200" kern="1200" smtClean="0">
                <a:solidFill>
                  <a:schemeClr val="bg2"/>
                </a:solidFill>
                <a:latin typeface="+mj-lt"/>
                <a:ea typeface="PMingLiU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1"/>
                </a:solidFill>
              </a:rPr>
              <a:t>© 2021 Cepheid. CONFIDENTIAL – SOLELY FOR INTERNAL USE BY CEPHEID ASSOCIATES.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36A70F4A-3458-A94E-86B7-590C80E4F4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0970" y="509085"/>
            <a:ext cx="1257218" cy="66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372810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03099" y="1320889"/>
            <a:ext cx="11079301" cy="4680155"/>
          </a:xfrm>
        </p:spPr>
        <p:txBody>
          <a:bodyPr anchor="t">
            <a:noAutofit/>
          </a:bodyPr>
          <a:lstStyle>
            <a:lvl1pPr marL="228594" indent="-228594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j-lt"/>
              </a:defRPr>
            </a:lvl1pPr>
            <a:lvl2pPr marL="457189" indent="-228594" algn="l" rtl="0" eaLnBrk="0" fontAlgn="base" hangingPunct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itchFamily="34" charset="0"/>
              <a:buChar char="‒"/>
              <a:defRPr sz="2000">
                <a:solidFill>
                  <a:schemeClr val="tx1"/>
                </a:solidFill>
                <a:latin typeface="+mj-lt"/>
              </a:defRPr>
            </a:lvl2pPr>
            <a:lvl3pPr marL="685783" indent="-228594" algn="l" rtl="0" eaLnBrk="0" fontAlgn="base" hangingPunct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itchFamily="34" charset="0"/>
              <a:buChar char="‒"/>
              <a:defRPr sz="1800">
                <a:solidFill>
                  <a:schemeClr val="tx1"/>
                </a:solidFill>
                <a:latin typeface="+mj-lt"/>
              </a:defRPr>
            </a:lvl3pPr>
            <a:lvl4pPr marL="914377" indent="-228594" algn="l" rtl="0" eaLnBrk="0" fontAlgn="base" hangingPunct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itchFamily="34" charset="0"/>
              <a:buChar char="‒"/>
              <a:defRPr sz="1600">
                <a:solidFill>
                  <a:schemeClr val="tx1"/>
                </a:solidFill>
                <a:latin typeface="+mj-lt"/>
              </a:defRPr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99872" y="182880"/>
            <a:ext cx="11078641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>
            <a:lvl1pPr>
              <a:lnSpc>
                <a:spcPct val="85000"/>
              </a:lnSpc>
              <a:defRPr/>
            </a:lvl1pPr>
          </a:lstStyle>
          <a:p>
            <a:pPr lvl="0"/>
            <a:r>
              <a:rPr lang="en-US" altLang="zh-TW"/>
              <a:t>Chart Slide Title Goes Here and Should Be No More Than Two Lines (Arial Bold 32pt)</a:t>
            </a:r>
          </a:p>
        </p:txBody>
      </p:sp>
    </p:spTree>
    <p:extLst>
      <p:ext uri="{BB962C8B-B14F-4D97-AF65-F5344CB8AC3E}">
        <p14:creationId xmlns:p14="http://schemas.microsoft.com/office/powerpoint/2010/main" val="421870563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ubl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04354" y="1322258"/>
            <a:ext cx="5374295" cy="4660487"/>
          </a:xfrm>
        </p:spPr>
        <p:txBody>
          <a:bodyPr anchor="t">
            <a:noAutofit/>
          </a:bodyPr>
          <a:lstStyle>
            <a:lvl1pPr marL="228594" indent="-228594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j-lt"/>
              </a:defRPr>
            </a:lvl1pPr>
            <a:lvl2pPr marL="457189" indent="-228594" algn="l" rtl="0" eaLnBrk="0" fontAlgn="base" hangingPunct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itchFamily="34" charset="0"/>
              <a:buChar char="‒"/>
              <a:defRPr sz="2000">
                <a:solidFill>
                  <a:schemeClr val="tx1"/>
                </a:solidFill>
                <a:latin typeface="+mj-lt"/>
              </a:defRPr>
            </a:lvl2pPr>
            <a:lvl3pPr marL="685783" indent="-228594" algn="l" rtl="0" eaLnBrk="0" fontAlgn="base" hangingPunct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itchFamily="34" charset="0"/>
              <a:buChar char="‒"/>
              <a:defRPr sz="1800">
                <a:solidFill>
                  <a:schemeClr val="tx1"/>
                </a:solidFill>
                <a:latin typeface="+mj-lt"/>
              </a:defRPr>
            </a:lvl3pPr>
            <a:lvl4pPr marL="914377" indent="-228594" algn="l" rtl="0" eaLnBrk="0" fontAlgn="base" hangingPunct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itchFamily="34" charset="0"/>
              <a:buChar char="‒"/>
              <a:defRPr sz="1600">
                <a:solidFill>
                  <a:schemeClr val="tx1"/>
                </a:solidFill>
                <a:latin typeface="+mj-lt"/>
              </a:defRPr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99872" y="182880"/>
            <a:ext cx="11021568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>
            <a:lvl1pPr>
              <a:lnSpc>
                <a:spcPct val="85000"/>
              </a:lnSpc>
              <a:defRPr/>
            </a:lvl1pPr>
          </a:lstStyle>
          <a:p>
            <a:pPr lvl="0"/>
            <a:r>
              <a:rPr lang="en-US" altLang="zh-TW"/>
              <a:t>Chart Slide Title Goes Here and Should Be No More Than Two Lines (Arial Bold 32pt)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339840" y="1330724"/>
            <a:ext cx="5242560" cy="4660487"/>
          </a:xfrm>
        </p:spPr>
        <p:txBody>
          <a:bodyPr anchor="t">
            <a:noAutofit/>
          </a:bodyPr>
          <a:lstStyle>
            <a:lvl1pPr marL="226478" indent="-226478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j-lt"/>
              </a:defRPr>
            </a:lvl1pPr>
            <a:lvl2pPr marL="459306" indent="-232828" algn="l" rtl="0" eaLnBrk="0" fontAlgn="base" hangingPunct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itchFamily="34" charset="0"/>
              <a:buChar char="‒"/>
              <a:defRPr sz="2000">
                <a:solidFill>
                  <a:schemeClr val="tx1"/>
                </a:solidFill>
                <a:latin typeface="+mj-lt"/>
              </a:defRPr>
            </a:lvl2pPr>
            <a:lvl3pPr marL="687900" indent="-228594" algn="l" rtl="0" eaLnBrk="0" fontAlgn="base" hangingPunct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itchFamily="34" charset="0"/>
              <a:buChar char="‒"/>
              <a:defRPr sz="1800">
                <a:solidFill>
                  <a:schemeClr val="tx1"/>
                </a:solidFill>
                <a:latin typeface="+mj-lt"/>
              </a:defRPr>
            </a:lvl3pPr>
            <a:lvl4pPr marL="914377" indent="-226478" algn="l" rtl="0" eaLnBrk="0" fontAlgn="base" hangingPunct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itchFamily="34" charset="0"/>
              <a:buChar char="‒"/>
              <a:defRPr sz="1600">
                <a:solidFill>
                  <a:schemeClr val="tx1"/>
                </a:solidFill>
                <a:latin typeface="+mj-lt"/>
              </a:defRPr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4" name="Straight Connector 3"/>
          <p:cNvCxnSpPr>
            <a:cxnSpLocks/>
          </p:cNvCxnSpPr>
          <p:nvPr userDrawn="1"/>
        </p:nvCxnSpPr>
        <p:spPr bwMode="auto">
          <a:xfrm>
            <a:off x="6097216" y="1400584"/>
            <a:ext cx="0" cy="465065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2"/>
            </a:solidFill>
            <a:prstDash val="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781618854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99872" y="182880"/>
            <a:ext cx="11021568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85000"/>
              </a:lnSpc>
              <a:defRPr/>
            </a:lvl1pPr>
          </a:lstStyle>
          <a:p>
            <a:pPr lvl="0"/>
            <a:r>
              <a:rPr lang="en-US" altLang="zh-TW"/>
              <a:t>Chart Slide Title Goes Here and Should Be No More Than Two Lines (Arial Bold 32pt)</a:t>
            </a:r>
          </a:p>
        </p:txBody>
      </p:sp>
    </p:spTree>
    <p:extLst>
      <p:ext uri="{BB962C8B-B14F-4D97-AF65-F5344CB8AC3E}">
        <p14:creationId xmlns:p14="http://schemas.microsoft.com/office/powerpoint/2010/main" val="1452622906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99872" y="182880"/>
            <a:ext cx="11021568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>
            <a:lvl1pPr>
              <a:lnSpc>
                <a:spcPct val="85000"/>
              </a:lnSpc>
              <a:defRPr/>
            </a:lvl1pPr>
          </a:lstStyle>
          <a:p>
            <a:pPr lvl="0"/>
            <a:r>
              <a:rPr lang="en-US" altLang="zh-TW"/>
              <a:t>Chart Slide Title Goes Here and Should Be No More Than Two Lines (Arial Bold 32pt)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10278" y="1317863"/>
            <a:ext cx="11003428" cy="593577"/>
          </a:xfrm>
        </p:spPr>
        <p:txBody>
          <a:bodyPr anchor="t" anchorCtr="0">
            <a:noAutofit/>
          </a:bodyPr>
          <a:lstStyle>
            <a:lvl1pPr marL="0" indent="0">
              <a:buNone/>
              <a:defRPr sz="2000" b="0" i="1">
                <a:solidFill>
                  <a:schemeClr val="accent2"/>
                </a:solidFill>
              </a:defRPr>
            </a:lvl1pPr>
            <a:lvl2pPr marL="609478" indent="0">
              <a:buNone/>
              <a:defRPr sz="2667" b="1"/>
            </a:lvl2pPr>
            <a:lvl3pPr marL="1218956" indent="0">
              <a:buNone/>
              <a:defRPr sz="2400" b="1"/>
            </a:lvl3pPr>
            <a:lvl4pPr marL="1828434" indent="0">
              <a:buNone/>
              <a:defRPr sz="2133" b="1"/>
            </a:lvl4pPr>
            <a:lvl5pPr marL="2437912" indent="0">
              <a:buNone/>
              <a:defRPr sz="2133" b="1"/>
            </a:lvl5pPr>
            <a:lvl6pPr marL="3047390" indent="0">
              <a:buNone/>
              <a:defRPr sz="2133" b="1"/>
            </a:lvl6pPr>
            <a:lvl7pPr marL="3656869" indent="0">
              <a:buNone/>
              <a:defRPr sz="2133" b="1"/>
            </a:lvl7pPr>
            <a:lvl8pPr marL="4266347" indent="0">
              <a:buNone/>
              <a:defRPr sz="2133" b="1"/>
            </a:lvl8pPr>
            <a:lvl9pPr marL="4875825" indent="0">
              <a:buNone/>
              <a:defRPr sz="2133" b="1"/>
            </a:lvl9pPr>
          </a:lstStyle>
          <a:p>
            <a:pPr lvl="0"/>
            <a:r>
              <a:rPr lang="en-US"/>
              <a:t>Subhead area</a:t>
            </a:r>
          </a:p>
        </p:txBody>
      </p:sp>
    </p:spTree>
    <p:extLst>
      <p:ext uri="{BB962C8B-B14F-4D97-AF65-F5344CB8AC3E}">
        <p14:creationId xmlns:p14="http://schemas.microsoft.com/office/powerpoint/2010/main" val="301828561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99872" y="725388"/>
            <a:ext cx="5301160" cy="2844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>
            <a:lvl1pPr>
              <a:lnSpc>
                <a:spcPct val="90000"/>
              </a:lnSpc>
              <a:defRPr/>
            </a:lvl1pPr>
          </a:lstStyle>
          <a:p>
            <a:pPr lvl="0"/>
            <a:r>
              <a:rPr lang="en-US" altLang="zh-TW"/>
              <a:t>Chart Slide Title Goes Here and Should Be No More Than Two Lines (Arial Bold 32pt)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10278" y="3600432"/>
            <a:ext cx="5301161" cy="593577"/>
          </a:xfrm>
        </p:spPr>
        <p:txBody>
          <a:bodyPr anchor="t" anchorCtr="0">
            <a:noAutofit/>
          </a:bodyPr>
          <a:lstStyle>
            <a:lvl1pPr marL="0" indent="0">
              <a:buNone/>
              <a:defRPr sz="2000" b="0" i="1">
                <a:solidFill>
                  <a:schemeClr val="accent2"/>
                </a:solidFill>
              </a:defRPr>
            </a:lvl1pPr>
            <a:lvl2pPr marL="609478" indent="0">
              <a:buNone/>
              <a:defRPr sz="2667" b="1"/>
            </a:lvl2pPr>
            <a:lvl3pPr marL="1218956" indent="0">
              <a:buNone/>
              <a:defRPr sz="2400" b="1"/>
            </a:lvl3pPr>
            <a:lvl4pPr marL="1828434" indent="0">
              <a:buNone/>
              <a:defRPr sz="2133" b="1"/>
            </a:lvl4pPr>
            <a:lvl5pPr marL="2437912" indent="0">
              <a:buNone/>
              <a:defRPr sz="2133" b="1"/>
            </a:lvl5pPr>
            <a:lvl6pPr marL="3047390" indent="0">
              <a:buNone/>
              <a:defRPr sz="2133" b="1"/>
            </a:lvl6pPr>
            <a:lvl7pPr marL="3656869" indent="0">
              <a:buNone/>
              <a:defRPr sz="2133" b="1"/>
            </a:lvl7pPr>
            <a:lvl8pPr marL="4266347" indent="0">
              <a:buNone/>
              <a:defRPr sz="2133" b="1"/>
            </a:lvl8pPr>
            <a:lvl9pPr marL="4875825" indent="0">
              <a:buNone/>
              <a:defRPr sz="2133" b="1"/>
            </a:lvl9pPr>
          </a:lstStyle>
          <a:p>
            <a:pPr lvl="0"/>
            <a:r>
              <a:rPr lang="en-US"/>
              <a:t>Subhead area</a:t>
            </a:r>
          </a:p>
        </p:txBody>
      </p:sp>
    </p:spTree>
    <p:extLst>
      <p:ext uri="{BB962C8B-B14F-4D97-AF65-F5344CB8AC3E}">
        <p14:creationId xmlns:p14="http://schemas.microsoft.com/office/powerpoint/2010/main" val="475338429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ullet Slide Sub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04355" y="1806034"/>
            <a:ext cx="11022224" cy="4355691"/>
          </a:xfrm>
        </p:spPr>
        <p:txBody>
          <a:bodyPr anchor="t">
            <a:noAutofit/>
          </a:bodyPr>
          <a:lstStyle>
            <a:lvl1pPr marL="228594" indent="-228594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j-lt"/>
              </a:defRPr>
            </a:lvl1pPr>
            <a:lvl2pPr marL="457189" indent="-228594" algn="l" rtl="0" eaLnBrk="0" fontAlgn="base" hangingPunct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itchFamily="34" charset="0"/>
              <a:buChar char="‒"/>
              <a:defRPr sz="2000">
                <a:solidFill>
                  <a:schemeClr val="tx1"/>
                </a:solidFill>
                <a:latin typeface="+mj-lt"/>
              </a:defRPr>
            </a:lvl2pPr>
            <a:lvl3pPr marL="685783" indent="-228594" algn="l" rtl="0" eaLnBrk="0" fontAlgn="base" hangingPunct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itchFamily="34" charset="0"/>
              <a:buChar char="‒"/>
              <a:defRPr sz="1800">
                <a:solidFill>
                  <a:schemeClr val="tx1"/>
                </a:solidFill>
                <a:latin typeface="+mj-lt"/>
              </a:defRPr>
            </a:lvl3pPr>
            <a:lvl4pPr marL="914377" indent="-228594" algn="l" rtl="0" eaLnBrk="0" fontAlgn="base" hangingPunct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itchFamily="34" charset="0"/>
              <a:buChar char="‒"/>
              <a:defRPr sz="1600">
                <a:solidFill>
                  <a:schemeClr val="tx1"/>
                </a:solidFill>
                <a:latin typeface="+mj-lt"/>
              </a:defRPr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99872" y="182880"/>
            <a:ext cx="11021568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>
            <a:lvl1pPr>
              <a:lnSpc>
                <a:spcPct val="85000"/>
              </a:lnSpc>
              <a:defRPr/>
            </a:lvl1pPr>
          </a:lstStyle>
          <a:p>
            <a:pPr lvl="0"/>
            <a:r>
              <a:rPr lang="en-US" altLang="zh-TW"/>
              <a:t>Chart Slide Title Goes Here and Should Be No More Than Two Lines (Arial Bold 32pt)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10278" y="1317864"/>
            <a:ext cx="11003428" cy="593577"/>
          </a:xfrm>
        </p:spPr>
        <p:txBody>
          <a:bodyPr anchor="t" anchorCtr="0">
            <a:noAutofit/>
          </a:bodyPr>
          <a:lstStyle>
            <a:lvl1pPr marL="0" indent="0">
              <a:buNone/>
              <a:defRPr sz="2000" b="0" i="1">
                <a:solidFill>
                  <a:schemeClr val="accent2"/>
                </a:solidFill>
              </a:defRPr>
            </a:lvl1pPr>
            <a:lvl2pPr marL="609478" indent="0">
              <a:buNone/>
              <a:defRPr sz="2667" b="1"/>
            </a:lvl2pPr>
            <a:lvl3pPr marL="1218956" indent="0">
              <a:buNone/>
              <a:defRPr sz="2400" b="1"/>
            </a:lvl3pPr>
            <a:lvl4pPr marL="1828434" indent="0">
              <a:buNone/>
              <a:defRPr sz="2133" b="1"/>
            </a:lvl4pPr>
            <a:lvl5pPr marL="2437912" indent="0">
              <a:buNone/>
              <a:defRPr sz="2133" b="1"/>
            </a:lvl5pPr>
            <a:lvl6pPr marL="3047390" indent="0">
              <a:buNone/>
              <a:defRPr sz="2133" b="1"/>
            </a:lvl6pPr>
            <a:lvl7pPr marL="3656869" indent="0">
              <a:buNone/>
              <a:defRPr sz="2133" b="1"/>
            </a:lvl7pPr>
            <a:lvl8pPr marL="4266347" indent="0">
              <a:buNone/>
              <a:defRPr sz="2133" b="1"/>
            </a:lvl8pPr>
            <a:lvl9pPr marL="4875825" indent="0">
              <a:buNone/>
              <a:defRPr sz="2133" b="1"/>
            </a:lvl9pPr>
          </a:lstStyle>
          <a:p>
            <a:pPr lvl="0"/>
            <a:r>
              <a:rPr lang="en-US"/>
              <a:t>Subhead area</a:t>
            </a:r>
          </a:p>
        </p:txBody>
      </p:sp>
    </p:spTree>
    <p:extLst>
      <p:ext uri="{BB962C8B-B14F-4D97-AF65-F5344CB8AC3E}">
        <p14:creationId xmlns:p14="http://schemas.microsoft.com/office/powerpoint/2010/main" val="2648851339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ouble Column Slide Sub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04069" y="1805056"/>
            <a:ext cx="5242560" cy="4320459"/>
          </a:xfrm>
        </p:spPr>
        <p:txBody>
          <a:bodyPr anchor="t">
            <a:noAutofit/>
          </a:bodyPr>
          <a:lstStyle>
            <a:lvl1pPr marL="226478" indent="-226478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j-lt"/>
              </a:defRPr>
            </a:lvl1pPr>
            <a:lvl2pPr marL="459306" indent="-232828" algn="l" rtl="0" eaLnBrk="0" fontAlgn="base" hangingPunct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itchFamily="34" charset="0"/>
              <a:buChar char="‒"/>
              <a:defRPr sz="2000">
                <a:solidFill>
                  <a:schemeClr val="tx1"/>
                </a:solidFill>
                <a:latin typeface="+mj-lt"/>
              </a:defRPr>
            </a:lvl2pPr>
            <a:lvl3pPr marL="687900" indent="-228594" algn="l" rtl="0" eaLnBrk="0" fontAlgn="base" hangingPunct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itchFamily="34" charset="0"/>
              <a:buChar char="‒"/>
              <a:defRPr sz="1800">
                <a:solidFill>
                  <a:schemeClr val="tx1"/>
                </a:solidFill>
                <a:latin typeface="+mj-lt"/>
              </a:defRPr>
            </a:lvl3pPr>
            <a:lvl4pPr marL="914377" indent="-226478" algn="l" rtl="0" eaLnBrk="0" fontAlgn="base" hangingPunct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itchFamily="34" charset="0"/>
              <a:buChar char="‒"/>
              <a:defRPr sz="1600">
                <a:solidFill>
                  <a:schemeClr val="tx1"/>
                </a:solidFill>
                <a:latin typeface="+mj-lt"/>
              </a:defRPr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99872" y="182880"/>
            <a:ext cx="11021568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>
            <a:lvl1pPr>
              <a:lnSpc>
                <a:spcPct val="85000"/>
              </a:lnSpc>
              <a:defRPr/>
            </a:lvl1pPr>
          </a:lstStyle>
          <a:p>
            <a:pPr lvl="0"/>
            <a:r>
              <a:rPr lang="en-US" altLang="zh-TW"/>
              <a:t>Chart Slide Title Goes Here and Should Be No More Than Two Lines (Arial Bold 32pt)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10881" y="1317861"/>
            <a:ext cx="5242560" cy="593577"/>
          </a:xfrm>
        </p:spPr>
        <p:txBody>
          <a:bodyPr anchor="t" anchorCtr="0">
            <a:noAutofit/>
          </a:bodyPr>
          <a:lstStyle>
            <a:lvl1pPr marL="0" indent="0">
              <a:buNone/>
              <a:defRPr sz="2000" b="0" i="1">
                <a:solidFill>
                  <a:schemeClr val="accent2"/>
                </a:solidFill>
              </a:defRPr>
            </a:lvl1pPr>
            <a:lvl2pPr marL="609478" indent="0">
              <a:buNone/>
              <a:defRPr sz="2667" b="1"/>
            </a:lvl2pPr>
            <a:lvl3pPr marL="1218956" indent="0">
              <a:buNone/>
              <a:defRPr sz="2400" b="1"/>
            </a:lvl3pPr>
            <a:lvl4pPr marL="1828434" indent="0">
              <a:buNone/>
              <a:defRPr sz="2133" b="1"/>
            </a:lvl4pPr>
            <a:lvl5pPr marL="2437912" indent="0">
              <a:buNone/>
              <a:defRPr sz="2133" b="1"/>
            </a:lvl5pPr>
            <a:lvl6pPr marL="3047390" indent="0">
              <a:buNone/>
              <a:defRPr sz="2133" b="1"/>
            </a:lvl6pPr>
            <a:lvl7pPr marL="3656869" indent="0">
              <a:buNone/>
              <a:defRPr sz="2133" b="1"/>
            </a:lvl7pPr>
            <a:lvl8pPr marL="4266347" indent="0">
              <a:buNone/>
              <a:defRPr sz="2133" b="1"/>
            </a:lvl8pPr>
            <a:lvl9pPr marL="4875825" indent="0">
              <a:buNone/>
              <a:defRPr sz="2133" b="1"/>
            </a:lvl9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339480" y="1811733"/>
            <a:ext cx="5242560" cy="4322747"/>
          </a:xfrm>
        </p:spPr>
        <p:txBody>
          <a:bodyPr anchor="t">
            <a:noAutofit/>
          </a:bodyPr>
          <a:lstStyle>
            <a:lvl1pPr marL="228594" indent="-228594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j-lt"/>
              </a:defRPr>
            </a:lvl1pPr>
            <a:lvl2pPr marL="457189" indent="-228594" algn="l" rtl="0" eaLnBrk="0" fontAlgn="base" hangingPunct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itchFamily="34" charset="0"/>
              <a:buChar char="‒"/>
              <a:defRPr sz="2000">
                <a:solidFill>
                  <a:schemeClr val="tx1"/>
                </a:solidFill>
                <a:latin typeface="+mj-lt"/>
              </a:defRPr>
            </a:lvl2pPr>
            <a:lvl3pPr marL="685783" indent="-228594" algn="l" rtl="0" eaLnBrk="0" fontAlgn="base" hangingPunct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itchFamily="34" charset="0"/>
              <a:buChar char="‒"/>
              <a:defRPr sz="1800">
                <a:solidFill>
                  <a:schemeClr val="tx1"/>
                </a:solidFill>
                <a:latin typeface="+mj-lt"/>
              </a:defRPr>
            </a:lvl3pPr>
            <a:lvl4pPr marL="914377" indent="-228594" algn="l" rtl="0" eaLnBrk="0" fontAlgn="base" hangingPunct="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itchFamily="34" charset="0"/>
              <a:buChar char="‒"/>
              <a:defRPr sz="1600">
                <a:solidFill>
                  <a:schemeClr val="tx1"/>
                </a:solidFill>
                <a:latin typeface="+mj-lt"/>
              </a:defRPr>
            </a:lvl4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6334997" y="1317861"/>
            <a:ext cx="5242560" cy="593577"/>
          </a:xfrm>
        </p:spPr>
        <p:txBody>
          <a:bodyPr anchor="t" anchorCtr="0">
            <a:noAutofit/>
          </a:bodyPr>
          <a:lstStyle>
            <a:lvl1pPr marL="0" indent="0">
              <a:buNone/>
              <a:defRPr sz="2000" b="0" i="1">
                <a:solidFill>
                  <a:schemeClr val="accent2"/>
                </a:solidFill>
              </a:defRPr>
            </a:lvl1pPr>
            <a:lvl2pPr marL="609478" indent="0">
              <a:buNone/>
              <a:defRPr sz="2667" b="1"/>
            </a:lvl2pPr>
            <a:lvl3pPr marL="1218956" indent="0">
              <a:buNone/>
              <a:defRPr sz="2400" b="1"/>
            </a:lvl3pPr>
            <a:lvl4pPr marL="1828434" indent="0">
              <a:buNone/>
              <a:defRPr sz="2133" b="1"/>
            </a:lvl4pPr>
            <a:lvl5pPr marL="2437912" indent="0">
              <a:buNone/>
              <a:defRPr sz="2133" b="1"/>
            </a:lvl5pPr>
            <a:lvl6pPr marL="3047390" indent="0">
              <a:buNone/>
              <a:defRPr sz="2133" b="1"/>
            </a:lvl6pPr>
            <a:lvl7pPr marL="3656869" indent="0">
              <a:buNone/>
              <a:defRPr sz="2133" b="1"/>
            </a:lvl7pPr>
            <a:lvl8pPr marL="4266347" indent="0">
              <a:buNone/>
              <a:defRPr sz="2133" b="1"/>
            </a:lvl8pPr>
            <a:lvl9pPr marL="4875825" indent="0">
              <a:buNone/>
              <a:defRPr sz="2133" b="1"/>
            </a:lvl9pPr>
          </a:lstStyle>
          <a:p>
            <a:pPr lvl="0"/>
            <a:r>
              <a:rPr lang="en-US"/>
              <a:t>Subhead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9AB96B-DCC2-452A-84E6-CB3F84EBE24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7216" y="1400584"/>
            <a:ext cx="0" cy="465065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2"/>
            </a:solidFill>
            <a:prstDash val="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784244477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098193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75A8752-31F2-CD47-8D75-98C16DAD3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2427"/>
            <a:ext cx="12192000" cy="6853146"/>
          </a:xfrm>
          <a:prstGeom prst="rect">
            <a:avLst/>
          </a:prstGeom>
        </p:spPr>
      </p:pic>
      <p:sp>
        <p:nvSpPr>
          <p:cNvPr id="4" name="Text Placeholder 1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494871" y="3362347"/>
            <a:ext cx="3423579" cy="1292661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lang="en-US" sz="8000" b="0" kern="1200" baseline="0" dirty="0" smtClean="0">
                <a:solidFill>
                  <a:schemeClr val="bg1"/>
                </a:solidFill>
                <a:effectLst/>
                <a:latin typeface="+mj-lt"/>
                <a:ea typeface="PMingLiU" pitchFamily="18" charset="-120"/>
                <a:cs typeface="+mn-cs"/>
              </a:defRPr>
            </a:lvl1pPr>
          </a:lstStyle>
          <a:p>
            <a:pPr lvl="0"/>
            <a:r>
              <a:rPr lang="en-US"/>
              <a:t>Q A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48FF4898-D2AF-45E7-BB82-012EF4EE65CD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475139" y="6368444"/>
            <a:ext cx="564773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lang="en-US" sz="1200" kern="1200" smtClean="0">
                <a:solidFill>
                  <a:schemeClr val="bg2"/>
                </a:solidFill>
                <a:latin typeface="+mj-lt"/>
                <a:ea typeface="PMingLiU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9pPr>
          </a:lstStyle>
          <a:p>
            <a:pPr algn="l"/>
            <a:fld id="{EB2FDD38-120B-4B19-A7C2-2DBD26B4A366}" type="slidenum">
              <a:rPr lang="en-US" sz="800" b="0" i="0" smtClean="0">
                <a:solidFill>
                  <a:schemeClr val="bg1"/>
                </a:solidFill>
              </a:rPr>
              <a:pPr algn="l"/>
              <a:t>‹#›</a:t>
            </a:fld>
            <a:endParaRPr lang="en-US" sz="800" b="0" i="0">
              <a:solidFill>
                <a:schemeClr val="bg1"/>
              </a:solidFill>
            </a:endParaRP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EE9878FD-22E3-4510-AC5A-1E6278CD60F2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701141" y="6373817"/>
            <a:ext cx="7528459" cy="273200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lang="en-US" sz="1200" kern="1200" smtClean="0">
                <a:solidFill>
                  <a:schemeClr val="bg2"/>
                </a:solidFill>
                <a:latin typeface="+mj-lt"/>
                <a:ea typeface="PMingLiU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1"/>
                </a:solidFill>
              </a:rPr>
              <a:t>© 2021 Cepheid. CONFIDENTIAL – SOLELY FOR INTERNAL USE BY CEPHEID ASSOCIATES.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3AE137-7F0B-4A6A-A307-12633EBA35B0}"/>
              </a:ext>
            </a:extLst>
          </p:cNvPr>
          <p:cNvSpPr txBox="1"/>
          <p:nvPr userDrawn="1"/>
        </p:nvSpPr>
        <p:spPr bwMode="gray">
          <a:xfrm>
            <a:off x="1353673" y="3918356"/>
            <a:ext cx="475129" cy="546848"/>
          </a:xfrm>
          <a:prstGeom prst="rect">
            <a:avLst/>
          </a:prstGeom>
        </p:spPr>
        <p:txBody>
          <a:bodyPr wrap="square" lIns="0" tIns="0" rIns="0" bIns="0" rtlCol="0" anchor="b" anchorCtr="0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3700">
                <a:solidFill>
                  <a:schemeClr val="accent1"/>
                </a:solidFill>
                <a:latin typeface="+mj-lt"/>
              </a:rPr>
              <a:t>&amp;</a:t>
            </a: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5C9255D9-476E-B94F-9A96-40143AD038E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0970" y="509085"/>
            <a:ext cx="1257218" cy="66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73576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0DD34A9-2DBC-4F55-91ED-71B3E48B28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854"/>
            <a:ext cx="12192000" cy="6853146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499203" y="4539012"/>
            <a:ext cx="6210797" cy="1106905"/>
          </a:xfrm>
          <a:prstGeom prst="rect">
            <a:avLst/>
          </a:prstGeom>
        </p:spPr>
        <p:txBody>
          <a:bodyPr/>
          <a:lstStyle>
            <a:lvl1pPr marL="0" indent="0" algn="l" rtl="0" fontAlgn="base">
              <a:lnSpc>
                <a:spcPct val="90000"/>
              </a:lnSpc>
              <a:spcBef>
                <a:spcPct val="0"/>
              </a:spcBef>
              <a:spcAft>
                <a:spcPts val="400"/>
              </a:spcAft>
              <a:buNone/>
              <a:defRPr kumimoji="1" lang="en-US" sz="1600" i="1" kern="1200" dirty="0">
                <a:solidFill>
                  <a:schemeClr val="accent6"/>
                </a:solidFill>
                <a:effectLst/>
                <a:latin typeface="+mj-lt"/>
                <a:ea typeface="PMingLiU" pitchFamily="18" charset="-120"/>
                <a:cs typeface="+mn-cs"/>
              </a:defRPr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en-US"/>
              <a:t>www.Cepheid.com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499203" y="3429000"/>
            <a:ext cx="6210797" cy="993992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lang="en-US" sz="3600" kern="1200" baseline="0" dirty="0" smtClean="0">
                <a:solidFill>
                  <a:schemeClr val="bg2"/>
                </a:solidFill>
                <a:effectLst/>
                <a:latin typeface="+mj-lt"/>
                <a:ea typeface="PMingLiU" pitchFamily="18" charset="-120"/>
                <a:cs typeface="+mn-cs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5D767C12-1B00-4146-B1F0-C8C6BAC2591A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475139" y="6368444"/>
            <a:ext cx="564773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lang="en-US" sz="1200" kern="1200" smtClean="0">
                <a:solidFill>
                  <a:schemeClr val="bg2"/>
                </a:solidFill>
                <a:latin typeface="+mj-lt"/>
                <a:ea typeface="PMingLiU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9pPr>
          </a:lstStyle>
          <a:p>
            <a:pPr algn="l"/>
            <a:fld id="{EB2FDD38-120B-4B19-A7C2-2DBD26B4A366}" type="slidenum">
              <a:rPr lang="en-US" sz="800" b="0" i="0" smtClean="0">
                <a:solidFill>
                  <a:schemeClr val="bg1"/>
                </a:solidFill>
              </a:rPr>
              <a:pPr algn="l"/>
              <a:t>‹#›</a:t>
            </a:fld>
            <a:endParaRPr lang="en-US" sz="800" b="0" i="0">
              <a:solidFill>
                <a:schemeClr val="bg1"/>
              </a:solidFill>
            </a:endParaRP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798A7760-0B51-498F-8D40-78E41BDADDC3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701141" y="6373817"/>
            <a:ext cx="8117739" cy="273200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lang="en-US" sz="1200" kern="1200" smtClean="0">
                <a:solidFill>
                  <a:schemeClr val="bg2"/>
                </a:solidFill>
                <a:latin typeface="+mj-lt"/>
                <a:ea typeface="PMingLiU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1"/>
                </a:solidFill>
              </a:rPr>
              <a:t>© 2021 Cepheid. CONFIDENTIAL – SOLELY FOR INTERNAL USE BY CEPHEID ASSOCIATES.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07A1BD9E-2D62-CB40-A285-523B9D52785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0970" y="509085"/>
            <a:ext cx="1257218" cy="66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98670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Quot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B410E47-CC60-0D4F-87BA-C43C862B24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2427"/>
            <a:ext cx="12191999" cy="685314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499203" y="4532996"/>
            <a:ext cx="11274408" cy="1106905"/>
          </a:xfrm>
          <a:prstGeom prst="rect">
            <a:avLst/>
          </a:prstGeom>
        </p:spPr>
        <p:txBody>
          <a:bodyPr/>
          <a:lstStyle>
            <a:lvl1pPr marL="0" indent="0" algn="l" rtl="0" fontAlgn="base">
              <a:lnSpc>
                <a:spcPct val="90000"/>
              </a:lnSpc>
              <a:spcBef>
                <a:spcPct val="0"/>
              </a:spcBef>
              <a:spcAft>
                <a:spcPts val="400"/>
              </a:spcAft>
              <a:buNone/>
              <a:defRPr kumimoji="1" lang="en-US" sz="1600" i="1" kern="1200" dirty="0">
                <a:solidFill>
                  <a:schemeClr val="accent6"/>
                </a:solidFill>
                <a:effectLst/>
                <a:latin typeface="+mj-lt"/>
                <a:ea typeface="PMingLiU" pitchFamily="18" charset="-120"/>
                <a:cs typeface="+mn-cs"/>
              </a:defRPr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en-US"/>
              <a:t>Author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361550" y="505328"/>
            <a:ext cx="11412061" cy="391766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154513" indent="-154513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  <a:tabLst/>
              <a:defRPr kumimoji="1" lang="en-US" sz="3600" kern="1200" baseline="0" dirty="0" smtClean="0">
                <a:solidFill>
                  <a:schemeClr val="bg2"/>
                </a:solidFill>
                <a:effectLst/>
                <a:latin typeface="+mj-lt"/>
                <a:ea typeface="PMingLiU" pitchFamily="18" charset="-120"/>
                <a:cs typeface="+mn-cs"/>
              </a:defRPr>
            </a:lvl1pPr>
          </a:lstStyle>
          <a:p>
            <a:r>
              <a:rPr lang="en-US"/>
              <a:t>“	Add Quote </a:t>
            </a:r>
            <a:br>
              <a:rPr lang="en-US"/>
            </a:br>
            <a:r>
              <a:rPr lang="en-US"/>
              <a:t>Here.”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5D767C12-1B00-4146-B1F0-C8C6BAC2591A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475139" y="6368444"/>
            <a:ext cx="564773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lang="en-US" sz="1200" kern="1200" smtClean="0">
                <a:solidFill>
                  <a:schemeClr val="bg2"/>
                </a:solidFill>
                <a:latin typeface="+mj-lt"/>
                <a:ea typeface="PMingLiU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9pPr>
          </a:lstStyle>
          <a:p>
            <a:pPr algn="l"/>
            <a:fld id="{EB2FDD38-120B-4B19-A7C2-2DBD26B4A366}" type="slidenum">
              <a:rPr lang="en-US" sz="800" b="0" i="0" smtClean="0">
                <a:solidFill>
                  <a:schemeClr val="bg1"/>
                </a:solidFill>
              </a:rPr>
              <a:pPr algn="l"/>
              <a:t>‹#›</a:t>
            </a:fld>
            <a:endParaRPr lang="en-US" sz="800" b="0" i="0">
              <a:solidFill>
                <a:schemeClr val="bg1"/>
              </a:solidFill>
            </a:endParaRP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798A7760-0B51-498F-8D40-78E41BDADDC3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701141" y="6373817"/>
            <a:ext cx="9032139" cy="273200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lang="en-US" sz="1200" kern="1200" smtClean="0">
                <a:solidFill>
                  <a:schemeClr val="bg2"/>
                </a:solidFill>
                <a:latin typeface="+mj-lt"/>
                <a:ea typeface="PMingLiU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1"/>
                </a:solidFill>
              </a:rPr>
              <a:t>© 2021 Cepheid. CONFIDENTIAL – SOLELY FOR INTERNAL USE BY CEPHEID ASSOCIATES.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FFE8617-B812-4103-82A9-B13128A54BE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23334" y="6170693"/>
            <a:ext cx="876635" cy="46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708232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Movi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6D42F6FB-991C-492C-B5C1-D332D4806E9C}"/>
              </a:ext>
            </a:extLst>
          </p:cNvPr>
          <p:cNvSpPr txBox="1">
            <a:spLocks/>
          </p:cNvSpPr>
          <p:nvPr userDrawn="1"/>
        </p:nvSpPr>
        <p:spPr bwMode="auto">
          <a:xfrm>
            <a:off x="475139" y="6368444"/>
            <a:ext cx="564773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lang="en-US" sz="1200" kern="1200" smtClean="0">
                <a:solidFill>
                  <a:schemeClr val="bg2"/>
                </a:solidFill>
                <a:latin typeface="+mj-lt"/>
                <a:ea typeface="PMingLiU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9pPr>
          </a:lstStyle>
          <a:p>
            <a:pPr algn="l"/>
            <a:fld id="{EB2FDD38-120B-4B19-A7C2-2DBD26B4A366}" type="slidenum">
              <a:rPr lang="en-US" sz="800" b="0" i="0" smtClean="0">
                <a:solidFill>
                  <a:schemeClr val="bg1"/>
                </a:solidFill>
              </a:rPr>
              <a:pPr algn="l"/>
              <a:t>‹#›</a:t>
            </a:fld>
            <a:endParaRPr lang="en-US" sz="800" b="0" i="0">
              <a:solidFill>
                <a:schemeClr val="bg1"/>
              </a:solidFill>
            </a:endParaRPr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1FE25DDB-549A-4D7E-9E03-687A413DE609}"/>
              </a:ext>
            </a:extLst>
          </p:cNvPr>
          <p:cNvSpPr txBox="1">
            <a:spLocks/>
          </p:cNvSpPr>
          <p:nvPr userDrawn="1"/>
        </p:nvSpPr>
        <p:spPr bwMode="auto">
          <a:xfrm>
            <a:off x="701141" y="6373817"/>
            <a:ext cx="8856032" cy="273200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lang="en-US" sz="1200" kern="1200" smtClean="0">
                <a:solidFill>
                  <a:schemeClr val="bg2"/>
                </a:solidFill>
                <a:latin typeface="+mj-lt"/>
                <a:ea typeface="PMingLiU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1"/>
                </a:solidFill>
              </a:rPr>
              <a:t>© 2021 Cepheid. CONFIDENTIAL – SOLELY FOR INTERNAL USE BY CEPHEID ASSOCIATES.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E99249-1097-AE45-9240-735826452D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invGray">
          <a:xfrm>
            <a:off x="10723334" y="6170693"/>
            <a:ext cx="876635" cy="46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996432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ash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E0400D-7D83-B742-A735-460CA3AC35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855"/>
            <a:ext cx="12191999" cy="6853145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38C28C68-9878-AF42-BA59-ED7A87409AD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67391" y="509085"/>
            <a:ext cx="1257218" cy="66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687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8920" y="183527"/>
            <a:ext cx="1108348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/>
              <a:t>Chart Slide Title Goes Here and Should Be No More Than Two Lines (Arial Bold 32pt)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01904" y="1317917"/>
            <a:ext cx="11080497" cy="467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kern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Slide Number Placeholder 2"/>
          <p:cNvSpPr txBox="1">
            <a:spLocks/>
          </p:cNvSpPr>
          <p:nvPr/>
        </p:nvSpPr>
        <p:spPr>
          <a:xfrm>
            <a:off x="475139" y="6368444"/>
            <a:ext cx="564773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lang="en-US" sz="1200" kern="1200" smtClean="0">
                <a:solidFill>
                  <a:schemeClr val="bg2"/>
                </a:solidFill>
                <a:latin typeface="+mj-lt"/>
                <a:ea typeface="PMingLiU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9pPr>
          </a:lstStyle>
          <a:p>
            <a:pPr algn="l"/>
            <a:fld id="{EB2FDD38-120B-4B19-A7C2-2DBD26B4A366}" type="slidenum">
              <a:rPr lang="en-US" sz="800" b="0" i="0" smtClean="0">
                <a:solidFill>
                  <a:schemeClr val="bg2">
                    <a:lumMod val="50000"/>
                  </a:schemeClr>
                </a:solidFill>
              </a:rPr>
              <a:pPr algn="l"/>
              <a:t>‹#›</a:t>
            </a:fld>
            <a:endParaRPr lang="en-US" sz="800" b="0" i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Slide Number Placeholder 2"/>
          <p:cNvSpPr txBox="1">
            <a:spLocks/>
          </p:cNvSpPr>
          <p:nvPr/>
        </p:nvSpPr>
        <p:spPr>
          <a:xfrm>
            <a:off x="701141" y="6373817"/>
            <a:ext cx="7772299" cy="273200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lang="en-US" sz="1200" kern="1200" smtClean="0">
                <a:solidFill>
                  <a:schemeClr val="bg2"/>
                </a:solidFill>
                <a:latin typeface="+mj-lt"/>
                <a:ea typeface="PMingLiU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Calibri" pitchFamily="34" charset="0"/>
                <a:ea typeface="PMingLiU" pitchFamily="18" charset="-120"/>
                <a:cs typeface="+mn-cs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50000"/>
                  </a:schemeClr>
                </a:solidFill>
              </a:rPr>
              <a:t>© 2021 Cepheid. CONFIDENTIAL – SOLELY FOR INTERNAL USE BY CEPHEID ASSOCIATES.</a:t>
            </a:r>
          </a:p>
        </p:txBody>
      </p:sp>
      <p:pic>
        <p:nvPicPr>
          <p:cNvPr id="12" name="Picture 11" descr="A picture containing text&#10;&#10;Description automatically generated">
            <a:extLst>
              <a:ext uri="{FF2B5EF4-FFF2-40B4-BE49-F238E27FC236}">
                <a16:creationId xmlns:a16="http://schemas.microsoft.com/office/drawing/2014/main" id="{05C9E4FC-EC59-B840-82E4-C72995615CAF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723334" y="6170693"/>
            <a:ext cx="876635" cy="46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898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701" r:id="rId2"/>
    <p:sldLayoutId id="2147483691" r:id="rId3"/>
    <p:sldLayoutId id="2147483677" r:id="rId4"/>
    <p:sldLayoutId id="2147483678" r:id="rId5"/>
    <p:sldLayoutId id="2147483679" r:id="rId6"/>
    <p:sldLayoutId id="2147483680" r:id="rId7"/>
    <p:sldLayoutId id="2147483700" r:id="rId8"/>
    <p:sldLayoutId id="2147483681" r:id="rId9"/>
    <p:sldLayoutId id="2147483682" r:id="rId10"/>
    <p:sldLayoutId id="2147483683" r:id="rId11"/>
    <p:sldLayoutId id="2147483687" r:id="rId12"/>
    <p:sldLayoutId id="2147483697" r:id="rId13"/>
    <p:sldLayoutId id="2147483698" r:id="rId14"/>
    <p:sldLayoutId id="2147483686" r:id="rId15"/>
    <p:sldLayoutId id="2147483684" r:id="rId16"/>
  </p:sldLayoutIdLst>
  <p:transition>
    <p:fade/>
  </p:transition>
  <p:hf hdr="0" ftr="0" dt="0"/>
  <p:txStyles>
    <p:titleStyle>
      <a:lvl1pPr algn="l" rtl="0" eaLnBrk="1" fontAlgn="base" hangingPunct="1">
        <a:lnSpc>
          <a:spcPct val="100000"/>
        </a:lnSpc>
        <a:spcBef>
          <a:spcPct val="0"/>
        </a:spcBef>
        <a:spcAft>
          <a:spcPts val="667"/>
        </a:spcAft>
        <a:defRPr kumimoji="1" lang="en-US" altLang="zh-TW" sz="3200" b="1" kern="1200" dirty="0">
          <a:solidFill>
            <a:schemeClr val="tx1"/>
          </a:solidFill>
          <a:latin typeface="+mj-lt"/>
          <a:ea typeface="PMingLiU" pitchFamily="18" charset="-120"/>
          <a:cs typeface="+mn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5867">
          <a:solidFill>
            <a:srgbClr val="00B9F2"/>
          </a:solidFill>
          <a:latin typeface="Calibri" charset="0"/>
          <a:ea typeface="PMingLiU" pitchFamily="18" charset="-120"/>
          <a:cs typeface="新細明體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5867">
          <a:solidFill>
            <a:srgbClr val="00B9F2"/>
          </a:solidFill>
          <a:latin typeface="Calibri" charset="0"/>
          <a:ea typeface="PMingLiU" pitchFamily="18" charset="-120"/>
          <a:cs typeface="新細明體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5867">
          <a:solidFill>
            <a:srgbClr val="00B9F2"/>
          </a:solidFill>
          <a:latin typeface="Calibri" charset="0"/>
          <a:ea typeface="PMingLiU" pitchFamily="18" charset="-120"/>
          <a:cs typeface="新細明體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5867">
          <a:solidFill>
            <a:srgbClr val="00B9F2"/>
          </a:solidFill>
          <a:latin typeface="Calibri" charset="0"/>
          <a:ea typeface="PMingLiU" pitchFamily="18" charset="-120"/>
          <a:cs typeface="新細明體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kumimoji="1" sz="5867">
          <a:solidFill>
            <a:srgbClr val="00B9F2"/>
          </a:solidFill>
          <a:latin typeface="Calibri" charset="0"/>
          <a:ea typeface="新細明體" charset="0"/>
          <a:cs typeface="新細明體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kumimoji="1" sz="5867">
          <a:solidFill>
            <a:srgbClr val="00B9F2"/>
          </a:solidFill>
          <a:latin typeface="Calibri" charset="0"/>
          <a:ea typeface="新細明體" charset="0"/>
          <a:cs typeface="新細明體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kumimoji="1" sz="5867">
          <a:solidFill>
            <a:srgbClr val="00B9F2"/>
          </a:solidFill>
          <a:latin typeface="Calibri" charset="0"/>
          <a:ea typeface="新細明體" charset="0"/>
          <a:cs typeface="新細明體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kumimoji="1" sz="5867">
          <a:solidFill>
            <a:srgbClr val="00B9F2"/>
          </a:solidFill>
          <a:latin typeface="Calibri" charset="0"/>
          <a:ea typeface="新細明體" charset="0"/>
          <a:cs typeface="新細明體" charset="0"/>
        </a:defRPr>
      </a:lvl9pPr>
    </p:titleStyle>
    <p:bodyStyle>
      <a:lvl1pPr marL="228594" indent="-228594" algn="l" rtl="0" eaLnBrk="1" fontAlgn="base" hangingPunct="1">
        <a:lnSpc>
          <a:spcPct val="90000"/>
        </a:lnSpc>
        <a:spcBef>
          <a:spcPts val="0"/>
        </a:spcBef>
        <a:spcAft>
          <a:spcPts val="1000"/>
        </a:spcAft>
        <a:buClr>
          <a:schemeClr val="accent2"/>
        </a:buClr>
        <a:buFont typeface="Arial" pitchFamily="34" charset="0"/>
        <a:buChar char="•"/>
        <a:defRPr kumimoji="1" lang="en-US" sz="2400" kern="0" dirty="0" smtClean="0">
          <a:solidFill>
            <a:schemeClr val="tx1"/>
          </a:solidFill>
          <a:latin typeface="+mj-lt"/>
          <a:ea typeface="PMingLiU" pitchFamily="18" charset="-120"/>
          <a:cs typeface="+mn-cs"/>
        </a:defRPr>
      </a:lvl1pPr>
      <a:lvl2pPr marL="457189" indent="-228594" algn="l" rtl="0" eaLnBrk="1" fontAlgn="base" hangingPunct="1">
        <a:lnSpc>
          <a:spcPct val="90000"/>
        </a:lnSpc>
        <a:spcBef>
          <a:spcPts val="0"/>
        </a:spcBef>
        <a:spcAft>
          <a:spcPts val="1000"/>
        </a:spcAft>
        <a:buClr>
          <a:schemeClr val="accent2"/>
        </a:buClr>
        <a:buFont typeface="Arial" pitchFamily="34" charset="0"/>
        <a:buChar char="‒"/>
        <a:tabLst/>
        <a:defRPr kumimoji="1" lang="en-US" sz="2000" kern="0" dirty="0" smtClean="0">
          <a:solidFill>
            <a:schemeClr val="tx1"/>
          </a:solidFill>
          <a:latin typeface="+mj-lt"/>
          <a:ea typeface="PMingLiU" pitchFamily="18" charset="-120"/>
          <a:cs typeface="+mn-cs"/>
        </a:defRPr>
      </a:lvl2pPr>
      <a:lvl3pPr marL="685783" indent="-228594" algn="l" rtl="0" eaLnBrk="1" fontAlgn="base" hangingPunct="1">
        <a:lnSpc>
          <a:spcPct val="90000"/>
        </a:lnSpc>
        <a:spcBef>
          <a:spcPts val="0"/>
        </a:spcBef>
        <a:spcAft>
          <a:spcPts val="1000"/>
        </a:spcAft>
        <a:buClr>
          <a:schemeClr val="accent2"/>
        </a:buClr>
        <a:buFont typeface="Arial" pitchFamily="34" charset="0"/>
        <a:buChar char="‒"/>
        <a:defRPr kumimoji="1" lang="en-US" sz="1800" kern="0" dirty="0" smtClean="0">
          <a:solidFill>
            <a:schemeClr val="tx1"/>
          </a:solidFill>
          <a:latin typeface="+mj-lt"/>
          <a:ea typeface="PMingLiU" pitchFamily="18" charset="-120"/>
          <a:cs typeface="+mn-cs"/>
        </a:defRPr>
      </a:lvl3pPr>
      <a:lvl4pPr marL="914377" indent="-228594" algn="l" rtl="0" eaLnBrk="1" fontAlgn="base" hangingPunct="1">
        <a:lnSpc>
          <a:spcPct val="90000"/>
        </a:lnSpc>
        <a:spcBef>
          <a:spcPts val="0"/>
        </a:spcBef>
        <a:spcAft>
          <a:spcPts val="1000"/>
        </a:spcAft>
        <a:buClr>
          <a:schemeClr val="accent2"/>
        </a:buClr>
        <a:buFont typeface="Arial" pitchFamily="34" charset="0"/>
        <a:buChar char="‒"/>
        <a:defRPr kumimoji="1" lang="en-US" sz="1600" kern="0" dirty="0">
          <a:solidFill>
            <a:schemeClr val="tx1"/>
          </a:solidFill>
          <a:latin typeface="+mj-lt"/>
          <a:ea typeface="PMingLiU" pitchFamily="18" charset="-120"/>
          <a:cs typeface="+mn-cs"/>
        </a:defRPr>
      </a:lvl4pPr>
      <a:lvl5pPr marL="2743131" indent="-304792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chemeClr val="tx1"/>
          </a:solidFill>
          <a:latin typeface="Arial" charset="0"/>
          <a:ea typeface="PMingLiU" pitchFamily="18" charset="-120"/>
          <a:cs typeface="+mn-cs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chemeClr val="tx1"/>
          </a:solidFill>
          <a:latin typeface="Arial" charset="0"/>
          <a:ea typeface="+mn-ea"/>
          <a:cs typeface="+mn-cs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chemeClr val="tx1"/>
          </a:solidFill>
          <a:latin typeface="Arial" charset="0"/>
          <a:ea typeface="+mn-ea"/>
          <a:cs typeface="+mn-cs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chemeClr val="tx1"/>
          </a:solidFill>
          <a:latin typeface="Arial" charset="0"/>
          <a:ea typeface="+mn-ea"/>
          <a:cs typeface="+mn-cs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har char="»"/>
        <a:defRPr kumimoji="1" sz="2667">
          <a:solidFill>
            <a:schemeClr val="tx1"/>
          </a:solidFill>
          <a:latin typeface="Arial" charset="0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384" userDrawn="1">
          <p15:clr>
            <a:srgbClr val="F26B43"/>
          </p15:clr>
        </p15:guide>
        <p15:guide id="4" pos="7296" userDrawn="1">
          <p15:clr>
            <a:srgbClr val="F26B43"/>
          </p15:clr>
        </p15:guide>
        <p15:guide id="5" orient="horz" pos="880" userDrawn="1">
          <p15:clr>
            <a:srgbClr val="F26B43"/>
          </p15:clr>
        </p15:guide>
        <p15:guide id="6" orient="horz" pos="3824" userDrawn="1">
          <p15:clr>
            <a:srgbClr val="F26B43"/>
          </p15:clr>
        </p15:guide>
        <p15:guide id="7" orient="horz" pos="411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0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hyperlink" Target="https://danaher.sharepoint.com/sites/CEP-Business-Systems-Analytics/SitePages/access-request-process.aspx#user-access-to-snowflake" TargetMode="External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11.png"/><Relationship Id="rId9" Type="http://schemas.microsoft.com/office/2007/relationships/diagramDrawing" Target="../diagrams/drawin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uwa52736.snowflakecomputing.com/console/login#/?returnUrl=internal%2Fworksheet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thequery.jobs/sql-cheat-sheethttps:/www.thequery.jobs/sql-cheat-sheet" TargetMode="Externa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uwa52736.snowflakecomputing.com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eams.microsoft.com/l/meetup-join/19%3a510c0fdebf28440c91aefea5a25b178a%40thread.skype/1667328030420?context=%7b%22Tid%22%3a%22771c9c47-7f24-44dc-958e-34f8713a8394%22%2c%22Oid%22%3a%22670230f4-75f9-44b5-b9c7-c4d8d1eb7ef6%22%7d" TargetMode="External"/><Relationship Id="rId2" Type="http://schemas.openxmlformats.org/officeDocument/2006/relationships/hyperlink" Target="https://danaher.sharepoint.com/sites/CEP-Business-Systems-Analytics/SitePages/access-request-process.aspx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thequery.jobs/sql-cheat-sheethttps:/www.thequery.jobs/sql-cheat-sheet" TargetMode="External"/><Relationship Id="rId4" Type="http://schemas.openxmlformats.org/officeDocument/2006/relationships/hyperlink" Target="https://docs.snowflake.com/en/user-guide/intro-key-concepts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nowflake.com/en/user-guide/intro-key-concepts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765ED05-0786-4D97-A278-5DB1F4477F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219" y="4526979"/>
            <a:ext cx="6647555" cy="1263284"/>
          </a:xfrm>
        </p:spPr>
        <p:txBody>
          <a:bodyPr wrap="square" anchor="t">
            <a:normAutofit/>
          </a:bodyPr>
          <a:lstStyle/>
          <a:p>
            <a:r>
              <a:rPr lang="en-US"/>
              <a:t> </a:t>
            </a:r>
          </a:p>
          <a:p>
            <a:r>
              <a:rPr lang="en-US"/>
              <a:t> </a:t>
            </a:r>
          </a:p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C47F1-01C7-4E16-842C-5B6AD60C2A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218" y="1859019"/>
            <a:ext cx="6647556" cy="3016979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CDP Snowflake Overview &amp; Training</a:t>
            </a:r>
          </a:p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</a:pPr>
            <a:r>
              <a:rPr lang="en-US" sz="2000" dirty="0"/>
              <a:t>Brij Thota</a:t>
            </a:r>
          </a:p>
        </p:txBody>
      </p:sp>
    </p:spTree>
    <p:extLst>
      <p:ext uri="{BB962C8B-B14F-4D97-AF65-F5344CB8AC3E}">
        <p14:creationId xmlns:p14="http://schemas.microsoft.com/office/powerpoint/2010/main" val="343195726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02D0408-5AED-4432-B6B7-E33147A80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872" y="576580"/>
            <a:ext cx="11133328" cy="990600"/>
          </a:xfrm>
        </p:spPr>
        <p:txBody>
          <a:bodyPr/>
          <a:lstStyle/>
          <a:p>
            <a:r>
              <a:rPr lang="en-US" dirty="0">
                <a:ea typeface="ＭＳ Ｐゴシック" charset="-128"/>
              </a:rPr>
              <a:t>Agenda - Snowflake</a:t>
            </a:r>
            <a:endParaRPr lang="en-US" altLang="zh-TW" dirty="0"/>
          </a:p>
        </p:txBody>
      </p:sp>
      <p:graphicFrame>
        <p:nvGraphicFramePr>
          <p:cNvPr id="7" name="Table">
            <a:extLst>
              <a:ext uri="{FF2B5EF4-FFF2-40B4-BE49-F238E27FC236}">
                <a16:creationId xmlns:a16="http://schemas.microsoft.com/office/drawing/2014/main" id="{CE68B067-89AE-42F9-A659-9EF121EB07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8608968"/>
              </p:ext>
            </p:extLst>
          </p:nvPr>
        </p:nvGraphicFramePr>
        <p:xfrm>
          <a:off x="1014046" y="2122637"/>
          <a:ext cx="9542585" cy="20949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09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313">
                  <a:extLst>
                    <a:ext uri="{9D8B030D-6E8A-4147-A177-3AD203B41FA5}">
                      <a16:colId xmlns:a16="http://schemas.microsoft.com/office/drawing/2014/main" val="3990574259"/>
                    </a:ext>
                  </a:extLst>
                </a:gridCol>
                <a:gridCol w="878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8094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defRPr b="0" cap="none"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sym typeface="Schulbuch Nord Pro"/>
                        </a:rPr>
                        <a:t>1</a:t>
                      </a:r>
                    </a:p>
                  </a:txBody>
                  <a:tcPr marL="109463" marR="109463" marT="109463" marB="109463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defRPr b="0" cap="none"/>
                      </a:pPr>
                      <a:endParaRPr sz="1200">
                        <a:solidFill>
                          <a:schemeClr val="tx2"/>
                        </a:solidFill>
                        <a:sym typeface="Schulbuch Nord Pro"/>
                      </a:endParaRPr>
                    </a:p>
                  </a:txBody>
                  <a:tcPr marL="109463" marR="109463" marT="109463" marB="109463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000" b="0" cap="none">
                          <a:sym typeface="Schulbuch Nord Pro"/>
                        </a:defRPr>
                      </a:pPr>
                      <a:r>
                        <a:rPr lang="en-US" sz="1800" b="0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OPS BI Program Strategic Objectives | </a:t>
                      </a:r>
                      <a:r>
                        <a:rPr lang="en-US" sz="1800" b="0" kern="1200" cap="none" dirty="0">
                          <a:solidFill>
                            <a:srgbClr val="15BEF0"/>
                          </a:solidFill>
                          <a:latin typeface="+mn-lt"/>
                          <a:ea typeface="+mn-ea"/>
                          <a:cs typeface="+mn-cs"/>
                        </a:rPr>
                        <a:t>Refresher and 2024 objectives</a:t>
                      </a:r>
                      <a:endParaRPr lang="en-US" sz="1800" b="0" kern="1200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9463" marR="109463" marT="109463" marB="109463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1046087"/>
                  </a:ext>
                </a:extLst>
              </a:tr>
              <a:tr h="328094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defRPr b="0" cap="none"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sym typeface="Schulbuch Nord Pro"/>
                        </a:rPr>
                        <a:t>2</a:t>
                      </a:r>
                    </a:p>
                  </a:txBody>
                  <a:tcPr marL="109463" marR="109463" marT="109463" marB="109463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defRPr b="0" cap="none"/>
                      </a:pPr>
                      <a:endParaRPr sz="1200">
                        <a:solidFill>
                          <a:schemeClr val="tx2"/>
                        </a:solidFill>
                        <a:sym typeface="Schulbuch Nord Pro"/>
                      </a:endParaRPr>
                    </a:p>
                  </a:txBody>
                  <a:tcPr marL="109463" marR="109463" marT="109463" marB="109463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000" b="0" cap="none">
                          <a:sym typeface="Schulbuch Nord Pro"/>
                        </a:defRPr>
                      </a:pPr>
                      <a:r>
                        <a:rPr lang="en-US" sz="1800" b="0" dirty="0"/>
                        <a:t>Cepheid Data Platform (CDP) </a:t>
                      </a:r>
                      <a:r>
                        <a:rPr lang="en-US" sz="1800" b="0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| </a:t>
                      </a:r>
                      <a:r>
                        <a:rPr lang="en-US" sz="1800" b="0" kern="1200" cap="none" dirty="0">
                          <a:solidFill>
                            <a:srgbClr val="15BEF0"/>
                          </a:solidFill>
                          <a:latin typeface="+mn-lt"/>
                          <a:ea typeface="+mn-ea"/>
                          <a:cs typeface="+mn-cs"/>
                        </a:rPr>
                        <a:t>Intro to Snowflake</a:t>
                      </a:r>
                    </a:p>
                  </a:txBody>
                  <a:tcPr marL="109463" marR="109463" marT="109463" marB="109463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094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defRPr b="0" cap="none"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sym typeface="Schulbuch Nord Pro"/>
                        </a:rPr>
                        <a:t>3</a:t>
                      </a:r>
                    </a:p>
                  </a:txBody>
                  <a:tcPr marL="109463" marR="109463" marT="109463" marB="109463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defRPr b="0" cap="none"/>
                      </a:pPr>
                      <a:endParaRPr sz="1200">
                        <a:solidFill>
                          <a:schemeClr val="tx2"/>
                        </a:solidFill>
                        <a:sym typeface="Schulbuch Nord Pro"/>
                      </a:endParaRPr>
                    </a:p>
                  </a:txBody>
                  <a:tcPr marL="109463" marR="109463" marT="109463" marB="109463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000" b="0" cap="none">
                          <a:sym typeface="Schulbuch Nord Pro"/>
                        </a:defRPr>
                      </a:pPr>
                      <a:r>
                        <a:rPr lang="en-US" sz="1800" b="0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Virtual Hands-on Session | </a:t>
                      </a:r>
                      <a:r>
                        <a:rPr lang="en-US" sz="1800" b="0" kern="1200" cap="none" dirty="0">
                          <a:solidFill>
                            <a:srgbClr val="15BEF0"/>
                          </a:solidFill>
                          <a:latin typeface="+mn-lt"/>
                          <a:ea typeface="+mn-ea"/>
                          <a:cs typeface="+mn-cs"/>
                        </a:rPr>
                        <a:t> Write your SQL Query in Snowflake</a:t>
                      </a:r>
                    </a:p>
                  </a:txBody>
                  <a:tcPr marL="109463" marR="109463" marT="109463" marB="109463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8767785"/>
                  </a:ext>
                </a:extLst>
              </a:tr>
              <a:tr h="328094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defRPr b="0" cap="none"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sym typeface="Schulbuch Nord Pro"/>
                        </a:rPr>
                        <a:t>4</a:t>
                      </a:r>
                    </a:p>
                  </a:txBody>
                  <a:tcPr marL="109463" marR="109463" marT="109463" marB="109463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defRPr b="0" cap="none"/>
                      </a:pPr>
                      <a:endParaRPr sz="1200">
                        <a:solidFill>
                          <a:schemeClr val="tx2"/>
                        </a:solidFill>
                        <a:sym typeface="Schulbuch Nord Pro"/>
                      </a:endParaRPr>
                    </a:p>
                  </a:txBody>
                  <a:tcPr marL="109463" marR="109463" marT="109463" marB="109463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3000" b="0" cap="none">
                          <a:sym typeface="Schulbuch Nord Pro"/>
                        </a:defRPr>
                      </a:pPr>
                      <a:r>
                        <a:rPr lang="en-US" sz="1800" b="0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Activity Connect to Power BI &amp; Excel | </a:t>
                      </a:r>
                      <a:r>
                        <a:rPr lang="en-US" sz="1800" b="0" kern="1200" cap="none" dirty="0">
                          <a:solidFill>
                            <a:srgbClr val="15BEF0"/>
                          </a:solidFill>
                          <a:latin typeface="+mn-lt"/>
                          <a:ea typeface="+mn-ea"/>
                          <a:cs typeface="+mn-cs"/>
                        </a:rPr>
                        <a:t>Snowflake view connection</a:t>
                      </a:r>
                    </a:p>
                  </a:txBody>
                  <a:tcPr marL="109463" marR="109463" marT="109463" marB="109463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1573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986916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976D94-3D64-F164-7775-0CE8D1C88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OPS BI Program Objectives</a:t>
            </a:r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1B572E5-E088-FFDC-0891-DD3B3D01F4B3}"/>
              </a:ext>
            </a:extLst>
          </p:cNvPr>
          <p:cNvSpPr/>
          <p:nvPr/>
        </p:nvSpPr>
        <p:spPr bwMode="gray">
          <a:xfrm>
            <a:off x="902057" y="2152592"/>
            <a:ext cx="4290060" cy="3668876"/>
          </a:xfrm>
          <a:prstGeom prst="rect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000000"/>
                </a:solidFill>
                <a:latin typeface="Cepheid Sans" pitchFamily="2" charset="0"/>
                <a:cs typeface="Calibri" panose="020F0502020204030204" pitchFamily="34" charset="0"/>
              </a:rPr>
              <a:t>Le</a:t>
            </a:r>
            <a:r>
              <a:rPr lang="en-US" sz="1400" b="1" dirty="0">
                <a:solidFill>
                  <a:srgbClr val="000000"/>
                </a:solidFill>
                <a:effectLst/>
                <a:latin typeface="Cepheid Sans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veraging</a:t>
            </a:r>
            <a:r>
              <a:rPr lang="en-US" sz="1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000000"/>
                </a:solidFill>
                <a:effectLst/>
                <a:latin typeface="Cepheid Sans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Enterprise Systems - </a:t>
            </a:r>
            <a:r>
              <a:rPr lang="en-US" sz="1400" dirty="0">
                <a:solidFill>
                  <a:srgbClr val="000000"/>
                </a:solidFill>
                <a:effectLst/>
                <a:latin typeface="Cepheid Sans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To streamline operations and minimize waste (</a:t>
            </a:r>
            <a:r>
              <a:rPr lang="en-US" sz="1400" dirty="0">
                <a:solidFill>
                  <a:srgbClr val="000000"/>
                </a:solidFill>
                <a:latin typeface="Cepheid Sans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</a:t>
            </a:r>
            <a:r>
              <a:rPr lang="en-US" sz="1400" dirty="0">
                <a:solidFill>
                  <a:srgbClr val="000000"/>
                </a:solidFill>
                <a:effectLst/>
                <a:latin typeface="Cepheid Sans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uda), it is crucial to align our enterprise systems processes at Gemba using DBS. </a:t>
            </a:r>
            <a:endParaRPr lang="en-US" sz="1400" dirty="0">
              <a:solidFill>
                <a:srgbClr val="000000"/>
              </a:solidFill>
              <a:latin typeface="Cepheid Sans" pitchFamily="2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sz="1400" dirty="0">
              <a:solidFill>
                <a:srgbClr val="000000"/>
              </a:solidFill>
              <a:effectLst/>
              <a:latin typeface="Cepheid Sans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US" sz="1400" b="1" dirty="0">
                <a:solidFill>
                  <a:srgbClr val="000000"/>
                </a:solidFill>
                <a:effectLst/>
                <a:latin typeface="Cepheid Sans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Committing to a Data Warehouse  </a:t>
            </a:r>
            <a:r>
              <a:rPr lang="en-US" sz="1400" dirty="0">
                <a:solidFill>
                  <a:srgbClr val="000000"/>
                </a:solidFill>
                <a:effectLst/>
                <a:latin typeface="Cepheid Sans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- Cepheid's Data Warehouse Platform (CDP) is a collaborative effort with IT to establish a scalable reporting and analytics architecture, ensuring a single source of truth for data</a:t>
            </a:r>
          </a:p>
          <a:p>
            <a:endParaRPr lang="en-US" sz="1400" b="1" dirty="0">
              <a:solidFill>
                <a:srgbClr val="000000"/>
              </a:solidFill>
              <a:latin typeface="Cepheid Sans" pitchFamily="2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endParaRPr lang="en-US" sz="1400" b="1" dirty="0">
              <a:solidFill>
                <a:srgbClr val="000000"/>
              </a:solidFill>
              <a:latin typeface="Cepheid Sans" pitchFamily="2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endParaRPr lang="en-US" sz="1400" b="1" dirty="0">
              <a:solidFill>
                <a:srgbClr val="000000"/>
              </a:solidFill>
              <a:latin typeface="Cepheid Sans" pitchFamily="2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r>
              <a:rPr lang="en-US" sz="1400" b="1" dirty="0">
                <a:solidFill>
                  <a:srgbClr val="000000"/>
                </a:solidFill>
                <a:effectLst/>
                <a:latin typeface="Cepheid Sans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Building a Data Centric Culture </a:t>
            </a:r>
            <a:r>
              <a:rPr lang="en-US" sz="1400" dirty="0">
                <a:solidFill>
                  <a:srgbClr val="000000"/>
                </a:solidFill>
                <a:effectLst/>
                <a:latin typeface="Cepheid Sans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– Cepheid Operations is committed to a data driven culture.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sz="1400" dirty="0">
              <a:solidFill>
                <a:srgbClr val="000000"/>
              </a:solidFill>
              <a:latin typeface="Cepheid Sans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7" name="Picture 6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2691DEDE-2F2E-A750-BE69-2150D359B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656" y="2090680"/>
            <a:ext cx="5567865" cy="4000019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8EC0E6B-4FAD-FE0E-95BE-583289871A08}"/>
              </a:ext>
            </a:extLst>
          </p:cNvPr>
          <p:cNvSpPr txBox="1">
            <a:spLocks/>
          </p:cNvSpPr>
          <p:nvPr/>
        </p:nvSpPr>
        <p:spPr bwMode="auto">
          <a:xfrm>
            <a:off x="510880" y="1317861"/>
            <a:ext cx="11594034" cy="39392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itchFamily="34" charset="0"/>
              <a:buNone/>
              <a:defRPr kumimoji="1" lang="en-US" sz="2000" b="0" i="1" kern="0">
                <a:solidFill>
                  <a:schemeClr val="accent2"/>
                </a:solidFill>
                <a:latin typeface="+mj-lt"/>
                <a:ea typeface="PMingLiU" pitchFamily="18" charset="-120"/>
                <a:cs typeface="+mn-cs"/>
              </a:defRPr>
            </a:lvl1pPr>
            <a:lvl2pPr marL="609478" indent="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itchFamily="34" charset="0"/>
              <a:buNone/>
              <a:tabLst/>
              <a:defRPr kumimoji="1" lang="en-US" sz="2667" b="1" kern="0">
                <a:solidFill>
                  <a:schemeClr val="tx1"/>
                </a:solidFill>
                <a:latin typeface="+mj-lt"/>
                <a:ea typeface="PMingLiU" pitchFamily="18" charset="-120"/>
                <a:cs typeface="+mn-cs"/>
              </a:defRPr>
            </a:lvl2pPr>
            <a:lvl3pPr marL="1218956" indent="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itchFamily="34" charset="0"/>
              <a:buNone/>
              <a:defRPr kumimoji="1" lang="en-US" sz="2400" b="1" kern="0">
                <a:solidFill>
                  <a:schemeClr val="tx1"/>
                </a:solidFill>
                <a:latin typeface="+mj-lt"/>
                <a:ea typeface="PMingLiU" pitchFamily="18" charset="-120"/>
                <a:cs typeface="+mn-cs"/>
              </a:defRPr>
            </a:lvl3pPr>
            <a:lvl4pPr marL="1828434" indent="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itchFamily="34" charset="0"/>
              <a:buNone/>
              <a:defRPr kumimoji="1" lang="en-US" sz="2133" b="1" kern="0">
                <a:solidFill>
                  <a:schemeClr val="tx1"/>
                </a:solidFill>
                <a:latin typeface="+mj-lt"/>
                <a:ea typeface="PMingLiU" pitchFamily="18" charset="-120"/>
                <a:cs typeface="+mn-cs"/>
              </a:defRPr>
            </a:lvl4pPr>
            <a:lvl5pPr marL="2437912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133" b="1">
                <a:solidFill>
                  <a:schemeClr val="tx1"/>
                </a:solidFill>
                <a:latin typeface="Arial" charset="0"/>
                <a:ea typeface="PMingLiU" pitchFamily="18" charset="-120"/>
                <a:cs typeface="+mn-cs"/>
              </a:defRPr>
            </a:lvl5pPr>
            <a:lvl6pPr marL="304739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133" b="1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6869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133" b="1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6347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133" b="1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5825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133" b="1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914400"/>
            <a:r>
              <a:rPr lang="en-US"/>
              <a:t>Improve productivity &amp; eliminate waste through </a:t>
            </a:r>
            <a:r>
              <a:rPr lang="en-US" b="1"/>
              <a:t>Data Democratization &amp; Report Standardization </a:t>
            </a:r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FF6F431-6DA7-6FE2-8491-7C35BD745995}"/>
              </a:ext>
            </a:extLst>
          </p:cNvPr>
          <p:cNvSpPr/>
          <p:nvPr/>
        </p:nvSpPr>
        <p:spPr bwMode="gray">
          <a:xfrm>
            <a:off x="4998179" y="2401864"/>
            <a:ext cx="1051567" cy="266007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0000">
                <a:schemeClr val="accent1"/>
              </a:gs>
              <a:gs pos="100000">
                <a:srgbClr val="38B7F0"/>
              </a:gs>
            </a:gsLst>
            <a:lin ang="16200000" scaled="1"/>
            <a:tileRect/>
          </a:gradFill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sx="98000" sy="98000" algn="ctr" rotWithShape="0">
              <a:prstClr val="black">
                <a:alpha val="22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b="1" spc="-20">
              <a:solidFill>
                <a:schemeClr val="bg1"/>
              </a:solidFill>
              <a:latin typeface="Arial" pitchFamily="34" charset="0"/>
              <a:ea typeface="新細明體" charset="0"/>
              <a:cs typeface="新細明體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8341C5B-2792-7F61-8698-AC99E2DF37A8}"/>
              </a:ext>
            </a:extLst>
          </p:cNvPr>
          <p:cNvSpPr/>
          <p:nvPr/>
        </p:nvSpPr>
        <p:spPr bwMode="gray">
          <a:xfrm>
            <a:off x="5119839" y="3845659"/>
            <a:ext cx="2856563" cy="266007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0000">
                <a:schemeClr val="accent1"/>
              </a:gs>
              <a:gs pos="100000">
                <a:srgbClr val="38B7F0"/>
              </a:gs>
            </a:gsLst>
            <a:lin ang="16200000" scaled="1"/>
            <a:tileRect/>
          </a:gradFill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sx="98000" sy="98000" algn="ctr" rotWithShape="0">
              <a:prstClr val="black">
                <a:alpha val="22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b="1" spc="-20">
              <a:solidFill>
                <a:schemeClr val="bg1"/>
              </a:solidFill>
              <a:latin typeface="Arial" pitchFamily="34" charset="0"/>
              <a:ea typeface="新細明體" charset="0"/>
              <a:cs typeface="新細明體" charset="0"/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46F91430-5665-0962-6871-F1B8F84AAD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2364307"/>
              </p:ext>
            </p:extLst>
          </p:nvPr>
        </p:nvGraphicFramePr>
        <p:xfrm>
          <a:off x="9768839" y="4335807"/>
          <a:ext cx="1521103" cy="1204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0" name="Arrow: Right 9">
            <a:extLst>
              <a:ext uri="{FF2B5EF4-FFF2-40B4-BE49-F238E27FC236}">
                <a16:creationId xmlns:a16="http://schemas.microsoft.com/office/drawing/2014/main" id="{D60DD425-E107-FE4F-7994-521BB31AA3A8}"/>
              </a:ext>
            </a:extLst>
          </p:cNvPr>
          <p:cNvSpPr/>
          <p:nvPr/>
        </p:nvSpPr>
        <p:spPr bwMode="gray">
          <a:xfrm>
            <a:off x="5192117" y="5451601"/>
            <a:ext cx="4803046" cy="266007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0000">
                <a:schemeClr val="accent1"/>
              </a:gs>
              <a:gs pos="100000">
                <a:srgbClr val="38B7F0"/>
              </a:gs>
            </a:gsLst>
            <a:lin ang="16200000" scaled="1"/>
            <a:tileRect/>
          </a:gradFill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sx="98000" sy="98000" algn="ctr" rotWithShape="0">
              <a:prstClr val="black">
                <a:alpha val="22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b="1" spc="-20">
              <a:solidFill>
                <a:schemeClr val="bg1"/>
              </a:solidFill>
              <a:latin typeface="Arial" pitchFamily="34" charset="0"/>
              <a:ea typeface="新細明體" charset="0"/>
              <a:cs typeface="新細明體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992808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976D94-3D64-F164-7775-0CE8D1C88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CDP Snowflake Overview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8EC0E6B-4FAD-FE0E-95BE-583289871A08}"/>
              </a:ext>
            </a:extLst>
          </p:cNvPr>
          <p:cNvSpPr txBox="1">
            <a:spLocks/>
          </p:cNvSpPr>
          <p:nvPr/>
        </p:nvSpPr>
        <p:spPr bwMode="auto">
          <a:xfrm>
            <a:off x="510880" y="1317861"/>
            <a:ext cx="11594034" cy="71797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itchFamily="34" charset="0"/>
              <a:buNone/>
              <a:defRPr kumimoji="1" lang="en-US" sz="2000" b="0" i="1" kern="0">
                <a:solidFill>
                  <a:schemeClr val="accent2"/>
                </a:solidFill>
                <a:latin typeface="+mj-lt"/>
                <a:ea typeface="PMingLiU" pitchFamily="18" charset="-120"/>
                <a:cs typeface="+mn-cs"/>
              </a:defRPr>
            </a:lvl1pPr>
            <a:lvl2pPr marL="609478" indent="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itchFamily="34" charset="0"/>
              <a:buNone/>
              <a:tabLst/>
              <a:defRPr kumimoji="1" lang="en-US" sz="2667" b="1" kern="0">
                <a:solidFill>
                  <a:schemeClr val="tx1"/>
                </a:solidFill>
                <a:latin typeface="+mj-lt"/>
                <a:ea typeface="PMingLiU" pitchFamily="18" charset="-120"/>
                <a:cs typeface="+mn-cs"/>
              </a:defRPr>
            </a:lvl2pPr>
            <a:lvl3pPr marL="1218956" indent="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itchFamily="34" charset="0"/>
              <a:buNone/>
              <a:defRPr kumimoji="1" lang="en-US" sz="2400" b="1" kern="0">
                <a:solidFill>
                  <a:schemeClr val="tx1"/>
                </a:solidFill>
                <a:latin typeface="+mj-lt"/>
                <a:ea typeface="PMingLiU" pitchFamily="18" charset="-120"/>
                <a:cs typeface="+mn-cs"/>
              </a:defRPr>
            </a:lvl3pPr>
            <a:lvl4pPr marL="1828434" indent="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itchFamily="34" charset="0"/>
              <a:buNone/>
              <a:defRPr kumimoji="1" lang="en-US" sz="2133" b="1" kern="0">
                <a:solidFill>
                  <a:schemeClr val="tx1"/>
                </a:solidFill>
                <a:latin typeface="+mj-lt"/>
                <a:ea typeface="PMingLiU" pitchFamily="18" charset="-120"/>
                <a:cs typeface="+mn-cs"/>
              </a:defRPr>
            </a:lvl4pPr>
            <a:lvl5pPr marL="2437912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133" b="1">
                <a:solidFill>
                  <a:schemeClr val="tx1"/>
                </a:solidFill>
                <a:latin typeface="Arial" charset="0"/>
                <a:ea typeface="PMingLiU" pitchFamily="18" charset="-120"/>
                <a:cs typeface="+mn-cs"/>
              </a:defRPr>
            </a:lvl5pPr>
            <a:lvl6pPr marL="304739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133" b="1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6869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133" b="1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6347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133" b="1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5825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133" b="1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1800" b="0" i="0" u="none" strike="noStrike" baseline="0" dirty="0">
                <a:latin typeface="Calibri" panose="020F0502020204030204" pitchFamily="34" charset="0"/>
              </a:rPr>
              <a:t>In CDP Snowflake , multiple environments are hosted in the same account.  Access is provided by applying for the </a:t>
            </a:r>
            <a:r>
              <a:rPr lang="en-US" sz="1800" b="1" i="0" u="none" strike="noStrike" baseline="0" dirty="0">
                <a:latin typeface="Calibri" panose="020F0502020204030204" pitchFamily="34" charset="0"/>
              </a:rPr>
              <a:t>PROD_OPS_ANALYST </a:t>
            </a:r>
            <a:r>
              <a:rPr lang="en-US" sz="1800" b="0" i="0" u="none" strike="noStrike" baseline="0" dirty="0">
                <a:latin typeface="Calibri" panose="020F0502020204030204" pitchFamily="34" charset="0"/>
              </a:rPr>
              <a:t>role to get access to Production.  1 role will get you access to all current and future OPS datapoints. </a:t>
            </a:r>
          </a:p>
          <a:p>
            <a:r>
              <a:rPr lang="en-US" sz="1600" dirty="0">
                <a:hlinkClick r:id="rId3"/>
              </a:rPr>
              <a:t>User Access Resource Guide (sharepoint.com)</a:t>
            </a:r>
            <a:r>
              <a:rPr lang="en-US" sz="1800" b="0" i="0" u="none" strike="noStrike" baseline="0" dirty="0">
                <a:latin typeface="Calibri" panose="020F0502020204030204" pitchFamily="34" charset="0"/>
              </a:rPr>
              <a:t> 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9F40E5-6EDF-AD5B-1397-C6F2AB42A3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613" y="2560064"/>
            <a:ext cx="2474332" cy="3834357"/>
          </a:xfrm>
          <a:prstGeom prst="rect">
            <a:avLst/>
          </a:prstGeom>
        </p:spPr>
      </p:pic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F18B5B6C-6C2D-7B17-940E-09B89FB4A8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3104119"/>
              </p:ext>
            </p:extLst>
          </p:nvPr>
        </p:nvGraphicFramePr>
        <p:xfrm>
          <a:off x="4687020" y="2364533"/>
          <a:ext cx="6119004" cy="34669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21801178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CCFF05-5B55-6383-68E4-4D490CDBA8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1478" y="1369015"/>
            <a:ext cx="6022569" cy="4680155"/>
          </a:xfrm>
        </p:spPr>
        <p:txBody>
          <a:bodyPr/>
          <a:lstStyle/>
          <a:p>
            <a:pPr marL="0" indent="0" algn="l">
              <a:buNone/>
            </a:pPr>
            <a:r>
              <a:rPr lang="en-US" sz="1400" b="1" i="0" dirty="0">
                <a:solidFill>
                  <a:srgbClr val="000000"/>
                </a:solidFill>
                <a:effectLst/>
                <a:latin typeface="Arial"/>
                <a:ea typeface="PMingLiU"/>
                <a:cs typeface="Arial"/>
              </a:rPr>
              <a:t>​​​​​​Snowflake</a:t>
            </a:r>
            <a:endParaRPr lang="en-US" sz="1400" b="1" dirty="0">
              <a:solidFill>
                <a:srgbClr val="000000"/>
              </a:solidFill>
              <a:latin typeface="Arial"/>
              <a:ea typeface="PMingLiU"/>
              <a:cs typeface="Arial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Arial"/>
                <a:ea typeface="PMingLiU"/>
                <a:cs typeface="Arial"/>
              </a:rPr>
              <a:t>Go to </a:t>
            </a:r>
            <a:r>
              <a:rPr lang="en-US" sz="1400" dirty="0">
                <a:ea typeface="PMingLiU"/>
                <a:hlinkClick r:id="rId2"/>
              </a:rPr>
              <a:t>CEP Snowflake Production</a:t>
            </a:r>
            <a:endParaRPr lang="en-US" sz="1400" dirty="0">
              <a:ea typeface="PMingLiU"/>
              <a:cs typeface="Arial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Arial"/>
                <a:ea typeface="PMingLiU"/>
                <a:cs typeface="Arial"/>
              </a:rPr>
              <a:t>Enter Username and Password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Arial"/>
                <a:ea typeface="PMingLiU"/>
                <a:cs typeface="Arial"/>
              </a:rPr>
              <a:t>Go to the bottom left and make sure your role is PROD_OPS_ANALYST</a:t>
            </a:r>
          </a:p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PMingLiU"/>
                <a:cs typeface="Arial"/>
              </a:rPr>
              <a:t>Execute your first Query</a:t>
            </a:r>
          </a:p>
          <a:p>
            <a:pPr marL="227965" indent="-227965"/>
            <a:r>
              <a:rPr lang="en-US" sz="1400" b="0" i="0" dirty="0">
                <a:solidFill>
                  <a:srgbClr val="000000"/>
                </a:solidFill>
                <a:effectLst/>
                <a:latin typeface="Arial"/>
                <a:ea typeface="PMingLiU"/>
                <a:cs typeface="Arial"/>
              </a:rPr>
              <a:t>Click on the + sign, create a new SQL Query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PMingLiU"/>
                <a:cs typeface="Arial"/>
              </a:rPr>
              <a:t> </a:t>
            </a:r>
          </a:p>
          <a:p>
            <a:pPr marL="227965" indent="-227965"/>
            <a:endParaRPr 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7965" indent="-227965"/>
            <a:endParaRPr 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7965" indent="-227965"/>
            <a:endParaRPr 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7965" indent="-227965"/>
            <a:endParaRPr 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7965" indent="-227965"/>
            <a:endParaRPr 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7965" indent="-227965"/>
            <a:endParaRPr 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7965" indent="-227965"/>
            <a:endParaRPr 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7965" indent="-227965"/>
            <a:endParaRPr lang="en-US" sz="1400" b="0" i="0" dirty="0">
              <a:solidFill>
                <a:srgbClr val="000000"/>
              </a:solidFill>
              <a:effectLst/>
              <a:latin typeface="Arial"/>
              <a:ea typeface="PMingLiU"/>
              <a:cs typeface="Arial"/>
            </a:endParaRPr>
          </a:p>
          <a:p>
            <a:pPr marL="227965" indent="-227965"/>
            <a:r>
              <a:rPr lang="en-US" sz="1400" b="0" i="0" dirty="0">
                <a:solidFill>
                  <a:srgbClr val="000000"/>
                </a:solidFill>
                <a:effectLst/>
                <a:latin typeface="Arial"/>
                <a:ea typeface="PMingLiU"/>
                <a:cs typeface="Arial"/>
              </a:rPr>
              <a:t>Run All with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PMingLiU"/>
                <a:cs typeface="Arial"/>
              </a:rPr>
              <a:t> 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Arial"/>
                <a:ea typeface="PMingLiU"/>
                <a:cs typeface="Arial"/>
              </a:rPr>
              <a:t> “CTRL + ENTER”</a:t>
            </a:r>
          </a:p>
          <a:p>
            <a:pPr marL="0" indent="0" algn="l">
              <a:buNone/>
            </a:pPr>
            <a:endParaRPr lang="en-US" sz="1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58F244F-EF57-723C-108C-3971F1978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– Explore Snowflake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074EEF-9265-A883-E06A-9BFC43A5A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7100" y="4305990"/>
            <a:ext cx="2276190" cy="1676190"/>
          </a:xfrm>
          <a:prstGeom prst="rect">
            <a:avLst/>
          </a:prstGeom>
        </p:spPr>
      </p:pic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0B00675F-07F8-D4BF-9FA3-83CAF22E1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765100"/>
              </p:ext>
            </p:extLst>
          </p:nvPr>
        </p:nvGraphicFramePr>
        <p:xfrm>
          <a:off x="817394" y="3429000"/>
          <a:ext cx="5440479" cy="11582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40479">
                  <a:extLst>
                    <a:ext uri="{9D8B030D-6E8A-4147-A177-3AD203B41FA5}">
                      <a16:colId xmlns:a16="http://schemas.microsoft.com/office/drawing/2014/main" val="3006525615"/>
                    </a:ext>
                  </a:extLst>
                </a:gridCol>
              </a:tblGrid>
              <a:tr h="986017">
                <a:tc>
                  <a:txBody>
                    <a:bodyPr/>
                    <a:lstStyle/>
                    <a:p>
                      <a:r>
                        <a:rPr lang="en-US" sz="1400" dirty="0"/>
                        <a:t>select * from </a:t>
                      </a:r>
                      <a:r>
                        <a:rPr lang="en-US" sz="1400" dirty="0" err="1"/>
                        <a:t>CEP_MFG_PROD.MFG_QUALITY.SS_NC_RECORDSwhere</a:t>
                      </a:r>
                      <a:r>
                        <a:rPr lang="en-US" sz="1400" dirty="0"/>
                        <a:t> "Owning Site Code" = 'SOLN' AND "Primary Status" = 'INWORKS' and "Total Days" &gt; 60and "Version" = '</a:t>
                      </a:r>
                      <a:r>
                        <a:rPr lang="en-US" sz="1400" dirty="0" err="1"/>
                        <a:t>LATEST'order</a:t>
                      </a:r>
                      <a:r>
                        <a:rPr lang="en-US" sz="1400" dirty="0"/>
                        <a:t> by "Record Number" desc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49073187"/>
                  </a:ext>
                </a:extLst>
              </a:tr>
            </a:tbl>
          </a:graphicData>
        </a:graphic>
      </p:graphicFrame>
      <p:graphicFrame>
        <p:nvGraphicFramePr>
          <p:cNvPr id="2" name="Table 12">
            <a:extLst>
              <a:ext uri="{FF2B5EF4-FFF2-40B4-BE49-F238E27FC236}">
                <a16:creationId xmlns:a16="http://schemas.microsoft.com/office/drawing/2014/main" id="{DE627E8C-11CD-2C97-B7E4-6B4450E130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578439"/>
              </p:ext>
            </p:extLst>
          </p:nvPr>
        </p:nvGraphicFramePr>
        <p:xfrm>
          <a:off x="817394" y="4622334"/>
          <a:ext cx="5440479" cy="97312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40479">
                  <a:extLst>
                    <a:ext uri="{9D8B030D-6E8A-4147-A177-3AD203B41FA5}">
                      <a16:colId xmlns:a16="http://schemas.microsoft.com/office/drawing/2014/main" val="3006525615"/>
                    </a:ext>
                  </a:extLst>
                </a:gridCol>
              </a:tblGrid>
              <a:tr h="973123">
                <a:tc>
                  <a:txBody>
                    <a:bodyPr/>
                    <a:lstStyle/>
                    <a:p>
                      <a:r>
                        <a:rPr lang="en-US" sz="1400" dirty="0"/>
                        <a:t>select * from </a:t>
                      </a:r>
                      <a:r>
                        <a:rPr lang="en-US" sz="1400" dirty="0" err="1"/>
                        <a:t>CEP_MFG_PROD.MFG_QUALITY.SS_NC_RECORDSwhere</a:t>
                      </a:r>
                      <a:r>
                        <a:rPr lang="en-US" sz="1400" dirty="0"/>
                        <a:t> "Phase" = 'Execute Disposition' and "Material Group 1" = 'Kits'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49073187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CB1C93D4-915A-8E18-C779-ED09E8C166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5616" y="329895"/>
            <a:ext cx="2324424" cy="3539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A06E8CD-98A8-AB10-1EF2-86AE30C63F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7694" y="523844"/>
            <a:ext cx="2836395" cy="29051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9AC150-8C7A-FE28-6166-98415DB7850C}"/>
              </a:ext>
            </a:extLst>
          </p:cNvPr>
          <p:cNvSpPr txBox="1"/>
          <p:nvPr/>
        </p:nvSpPr>
        <p:spPr>
          <a:xfrm>
            <a:off x="7497844" y="5982181"/>
            <a:ext cx="2727533" cy="461665"/>
          </a:xfrm>
          <a:prstGeom prst="rect">
            <a:avLst/>
          </a:prstGeom>
          <a:solidFill>
            <a:schemeClr val="lt1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hlinkClick r:id="rId6" tooltip="https://www.thequery.jobs/sql-cheat-sheethttps://www.thequery.jobs/sql-cheat-sheet"/>
              </a:rPr>
              <a:t>SQL Cheat Sheet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23403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CCFF05-5B55-6383-68E4-4D490CDBA8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1478" y="1369015"/>
            <a:ext cx="5756323" cy="4680155"/>
          </a:xfrm>
        </p:spPr>
        <p:txBody>
          <a:bodyPr/>
          <a:lstStyle/>
          <a:p>
            <a:pPr marL="0" indent="0" algn="l">
              <a:buNone/>
            </a:pPr>
            <a:r>
              <a:rPr lang="en-US" sz="1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​​​​​​Once you have Power BI installed, get data from Snowflake</a:t>
            </a:r>
            <a:endParaRPr lang="en-US" sz="14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Open Power BI Desktop &gt;&gt; Get Data &gt;&gt; Snowflake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Enter Connection Details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Server: </a:t>
            </a:r>
            <a:r>
              <a:rPr lang="en-US" sz="1400" b="0" i="0" u="sng" dirty="0">
                <a:solidFill>
                  <a:srgbClr val="006EAE"/>
                </a:solidFill>
                <a:effectLst/>
                <a:latin typeface="Arial" panose="020B0604020202020204" pitchFamily="34" charset="0"/>
                <a:hlinkClick r:id="rId2"/>
              </a:rPr>
              <a:t>uwa52736.snowflakecomputing.com</a:t>
            </a:r>
            <a:endParaRPr lang="en-US" sz="1400" u="sng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Warehouse: CDP_OPS_PROD_VW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Role Name:  PROD_OPS_ANALYST</a:t>
            </a:r>
          </a:p>
          <a:p>
            <a:pPr marL="342900" indent="-342900" algn="l">
              <a:buFont typeface="+mj-lt"/>
              <a:buAutoNum type="arabicPeriod"/>
            </a:pPr>
            <a:endParaRPr lang="en-US" sz="1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</a:rPr>
              <a:t>Connect to MFG Quality Views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CEP_MFG_PROD &gt;&gt; MFG_QUALITY &gt;&gt; VIEWS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Import Data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Keep Columns you need (Best Practice)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Filter 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Version Column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to LATEST (Most use cases)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58F244F-EF57-723C-108C-3971F1978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– Connect to Power BI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457BB9-8570-B4FD-7C75-F758518B9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333" y="1332517"/>
            <a:ext cx="3775623" cy="30386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42E280-97FD-3269-BC31-34AF94BAE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333" y="4436402"/>
            <a:ext cx="3793075" cy="1872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58930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CCFF05-5B55-6383-68E4-4D490CDBA8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1478" y="1369015"/>
            <a:ext cx="5756323" cy="4680155"/>
          </a:xfrm>
        </p:spPr>
        <p:txBody>
          <a:bodyPr/>
          <a:lstStyle/>
          <a:p>
            <a:pPr marL="0" indent="0" algn="l">
              <a:buNone/>
            </a:pPr>
            <a:r>
              <a:rPr lang="en-US" sz="1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​​​​​​Once you have 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</a:rPr>
              <a:t>ODBC Drivers installed</a:t>
            </a:r>
            <a:r>
              <a:rPr lang="en-US" sz="1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get data from Snowflake</a:t>
            </a:r>
            <a:endParaRPr lang="en-US" sz="14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Open 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Excel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&gt;&gt; Get Data &gt;&gt; 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Other Sources &gt;&gt; From ODBC</a:t>
            </a:r>
            <a:endParaRPr lang="en-US" sz="1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Choose the ODBC drivers you named while Installation</a:t>
            </a:r>
            <a:endParaRPr lang="en-US" sz="1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342900" indent="-342900" algn="l">
              <a:buFont typeface="+mj-lt"/>
              <a:buAutoNum type="arabicPeriod"/>
            </a:pPr>
            <a:endParaRPr lang="en-US" sz="1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</a:rPr>
              <a:t>Connect to MFG Quality Views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CEP_MFG_PROD &gt;&gt; MFG_QUALITY &gt;&gt; VIEWS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Import Data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Keep Columns you need (Best Practice)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Filter 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Version column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to LATEST (Most use cases)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58F244F-EF57-723C-108C-3971F1978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– Connect to Excel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A5C5BC-12EC-9538-2572-665281A64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801" y="464659"/>
            <a:ext cx="4330790" cy="36032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5D30B7-4A7A-1972-CB65-1A1915220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780" y="4067949"/>
            <a:ext cx="4330790" cy="198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13184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44A0D6-2252-B93E-EB37-650D1B2CBF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Snowflake Key Concepts </a:t>
            </a:r>
          </a:p>
          <a:p>
            <a:endParaRPr lang="en-US" dirty="0"/>
          </a:p>
          <a:p>
            <a:r>
              <a:rPr lang="en-US" dirty="0"/>
              <a:t>SQL Queries Tips &amp; Tricks </a:t>
            </a:r>
          </a:p>
          <a:p>
            <a:endParaRPr lang="en-US" dirty="0"/>
          </a:p>
          <a:p>
            <a:r>
              <a:rPr lang="en-US" dirty="0"/>
              <a:t>Get Snowflake Access </a:t>
            </a:r>
          </a:p>
          <a:p>
            <a:pPr marL="0" indent="0">
              <a:buNone/>
            </a:pPr>
            <a:r>
              <a:rPr lang="en-US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hlinkClick r:id="rId2" tooltip="https://danaher.sharepoint.com/sites/CEP-Business-Systems-Analytics/SitePages/access-request-process.aspx"/>
              </a:rPr>
              <a:t>Snowflake - User access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</a:rPr>
              <a:t>Join Office Hours Every Alternate Friday 11 am for any questions</a:t>
            </a:r>
          </a:p>
          <a:p>
            <a:pPr marL="0" indent="0">
              <a:buNone/>
            </a:pPr>
            <a:r>
              <a:rPr lang="en-US" dirty="0"/>
              <a:t>⁠</a:t>
            </a:r>
            <a:r>
              <a:rPr lang="en-US" dirty="0">
                <a:hlinkClick r:id="rId3" tooltip="https://teams.microsoft.com/l/meetup-join/19%3a510c0fdebf28440c91aefea5a25b178a%40thread.skype/1667328030420?context=%7b%22Tid%22%3a%22771c9c47-7f24-44dc-958e-34f8713a8394%22%2c%22Oid%22%3a%22670230f4-75f9-44b5-b9c7-c4d8d1eb7ef6%22%7d"/>
              </a:rPr>
              <a:t>Office Hours - Meeting invite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55EA4A-DA55-BCE7-D10F-ACD522B16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Resources &amp; BI Community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BC34D9-1CCA-3386-DEAE-1B9DBD5F059F}"/>
              </a:ext>
            </a:extLst>
          </p:cNvPr>
          <p:cNvSpPr txBox="1"/>
          <p:nvPr/>
        </p:nvSpPr>
        <p:spPr>
          <a:xfrm>
            <a:off x="499872" y="1763354"/>
            <a:ext cx="5647858" cy="338554"/>
          </a:xfrm>
          <a:prstGeom prst="rect">
            <a:avLst/>
          </a:prstGeom>
          <a:solidFill>
            <a:schemeClr val="lt1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hlinkClick r:id="rId4"/>
              </a:rPr>
              <a:t>https://docs.snowflake.com/en/user-guide/intro-key-concepts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69D7A6-A869-9818-9221-57C4AC86E144}"/>
              </a:ext>
            </a:extLst>
          </p:cNvPr>
          <p:cNvSpPr txBox="1"/>
          <p:nvPr/>
        </p:nvSpPr>
        <p:spPr>
          <a:xfrm>
            <a:off x="499872" y="2691783"/>
            <a:ext cx="2727533" cy="369332"/>
          </a:xfrm>
          <a:prstGeom prst="rect">
            <a:avLst/>
          </a:prstGeom>
          <a:solidFill>
            <a:schemeClr val="lt1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800" dirty="0">
                <a:hlinkClick r:id="rId5" tooltip="https://www.thequery.jobs/sql-cheat-sheethttps://www.thequery.jobs/sql-cheat-sheet"/>
              </a:rPr>
              <a:t>SQL Cheat Sheet</a:t>
            </a:r>
            <a:endParaRPr lang="en-US" sz="1800" dirty="0"/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27EA4EC8-C379-535C-1ECE-3D214FF4E33F}"/>
              </a:ext>
            </a:extLst>
          </p:cNvPr>
          <p:cNvSpPr/>
          <p:nvPr/>
        </p:nvSpPr>
        <p:spPr bwMode="gray">
          <a:xfrm>
            <a:off x="174929" y="4572000"/>
            <a:ext cx="324943" cy="184093"/>
          </a:xfrm>
          <a:prstGeom prst="chevron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0000">
                <a:schemeClr val="accent1"/>
              </a:gs>
              <a:gs pos="100000">
                <a:srgbClr val="38B7F0"/>
              </a:gs>
            </a:gsLst>
            <a:lin ang="16200000" scaled="1"/>
            <a:tileRect/>
          </a:gradFill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sx="98000" sy="98000" algn="ctr" rotWithShape="0">
              <a:prstClr val="black">
                <a:alpha val="22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b="1" spc="-20" dirty="0">
              <a:solidFill>
                <a:schemeClr val="bg1"/>
              </a:solidFill>
              <a:latin typeface="Arial" pitchFamily="34" charset="0"/>
              <a:ea typeface="新細明體" charset="0"/>
              <a:cs typeface="新細明體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91466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439EB8-4C49-0530-3C10-E4A3306C9F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5937" y="1911440"/>
            <a:ext cx="4033615" cy="4079349"/>
          </a:xfrm>
        </p:spPr>
        <p:txBody>
          <a:bodyPr/>
          <a:lstStyle/>
          <a:p>
            <a:pPr algn="l"/>
            <a:r>
              <a:rPr lang="en-US" sz="1800" b="1" i="0" dirty="0">
                <a:solidFill>
                  <a:srgbClr val="2C2F34"/>
                </a:solidFill>
                <a:effectLst/>
                <a:latin typeface="Inter"/>
              </a:rPr>
              <a:t>Cloud Services </a:t>
            </a:r>
          </a:p>
          <a:p>
            <a:pPr lvl="1"/>
            <a:r>
              <a:rPr lang="en-US" sz="1400" b="1" dirty="0">
                <a:solidFill>
                  <a:srgbClr val="2C2F34"/>
                </a:solidFill>
                <a:latin typeface="Inter"/>
              </a:rPr>
              <a:t>Easy access and sharing</a:t>
            </a:r>
            <a:endParaRPr lang="en-US" sz="1400" b="1" i="0" dirty="0">
              <a:solidFill>
                <a:srgbClr val="2C2F34"/>
              </a:solidFill>
              <a:effectLst/>
              <a:latin typeface="Inter"/>
            </a:endParaRPr>
          </a:p>
          <a:p>
            <a:pPr lvl="1"/>
            <a:r>
              <a:rPr lang="en-US" sz="1400" b="1" dirty="0">
                <a:solidFill>
                  <a:srgbClr val="2C2F34"/>
                </a:solidFill>
                <a:latin typeface="Inter"/>
              </a:rPr>
              <a:t>Web based Analysis tool</a:t>
            </a:r>
          </a:p>
          <a:p>
            <a:endParaRPr lang="en-US" sz="1800" b="1" i="0" dirty="0">
              <a:solidFill>
                <a:srgbClr val="2C2F34"/>
              </a:solidFill>
              <a:effectLst/>
              <a:latin typeface="Inter"/>
            </a:endParaRPr>
          </a:p>
          <a:p>
            <a:r>
              <a:rPr lang="en-US" sz="1800" b="1" i="0" dirty="0">
                <a:solidFill>
                  <a:srgbClr val="2C2F34"/>
                </a:solidFill>
                <a:effectLst/>
                <a:latin typeface="Inter"/>
              </a:rPr>
              <a:t>Query Processing “Warehouse”</a:t>
            </a:r>
          </a:p>
          <a:p>
            <a:pPr lvl="1"/>
            <a:r>
              <a:rPr lang="en-US" sz="1400" b="1" i="0" dirty="0">
                <a:solidFill>
                  <a:srgbClr val="2C2F34"/>
                </a:solidFill>
                <a:effectLst/>
                <a:latin typeface="Inter"/>
              </a:rPr>
              <a:t>Separate processing layer </a:t>
            </a:r>
          </a:p>
          <a:p>
            <a:pPr lvl="1"/>
            <a:r>
              <a:rPr lang="en-US" sz="1400" b="1" i="0" dirty="0">
                <a:solidFill>
                  <a:srgbClr val="2C2F34"/>
                </a:solidFill>
                <a:effectLst/>
                <a:latin typeface="Inter"/>
              </a:rPr>
              <a:t>Load balanced compute resources</a:t>
            </a:r>
          </a:p>
          <a:p>
            <a:pPr algn="l"/>
            <a:endParaRPr lang="en-US" sz="1800" b="1" dirty="0">
              <a:solidFill>
                <a:srgbClr val="2C2F34"/>
              </a:solidFill>
              <a:latin typeface="Inter"/>
            </a:endParaRPr>
          </a:p>
          <a:p>
            <a:r>
              <a:rPr lang="en-US" sz="1800" b="1" i="0" dirty="0">
                <a:solidFill>
                  <a:srgbClr val="2C2F34"/>
                </a:solidFill>
                <a:effectLst/>
                <a:latin typeface="Inter"/>
              </a:rPr>
              <a:t>Database Storage </a:t>
            </a:r>
            <a:r>
              <a:rPr lang="en-US" sz="1800" b="1" dirty="0">
                <a:solidFill>
                  <a:srgbClr val="2C2F34"/>
                </a:solidFill>
                <a:latin typeface="Inter"/>
              </a:rPr>
              <a:t>Layer </a:t>
            </a:r>
            <a:r>
              <a:rPr lang="en-US" sz="1800" b="1" i="0" dirty="0">
                <a:solidFill>
                  <a:srgbClr val="2C2F34"/>
                </a:solidFill>
                <a:effectLst/>
                <a:latin typeface="Inter"/>
              </a:rPr>
              <a:t> </a:t>
            </a:r>
          </a:p>
          <a:p>
            <a:pPr lvl="1"/>
            <a:r>
              <a:rPr lang="en-US" sz="1400" b="1" i="0" dirty="0">
                <a:solidFill>
                  <a:srgbClr val="2C2F34"/>
                </a:solidFill>
                <a:effectLst/>
                <a:latin typeface="Inter"/>
              </a:rPr>
              <a:t>Optimized, compressed &amp; columnar structure</a:t>
            </a:r>
          </a:p>
          <a:p>
            <a:pPr lvl="1"/>
            <a:r>
              <a:rPr lang="en-US" sz="1400" b="1" i="0" dirty="0">
                <a:solidFill>
                  <a:srgbClr val="2C2F34"/>
                </a:solidFill>
                <a:effectLst/>
                <a:latin typeface="Inter"/>
              </a:rPr>
              <a:t> </a:t>
            </a:r>
            <a:r>
              <a:rPr lang="en-US" sz="1400" b="1" dirty="0">
                <a:solidFill>
                  <a:srgbClr val="2C2F34"/>
                </a:solidFill>
                <a:latin typeface="Inter"/>
              </a:rPr>
              <a:t>Self Managed organization, metadata, statistics, etc. </a:t>
            </a:r>
            <a:endParaRPr lang="en-US" sz="1800" b="1" i="0" dirty="0">
              <a:solidFill>
                <a:srgbClr val="2C2F34"/>
              </a:solidFill>
              <a:effectLst/>
              <a:latin typeface="Inter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32A55B-AE9B-50B7-A76B-0DAAEFAE9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CDP Snowflake 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4CF0C8-73E4-A645-F455-22C2186D63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so special about Snowflake?</a:t>
            </a:r>
          </a:p>
        </p:txBody>
      </p:sp>
      <p:pic>
        <p:nvPicPr>
          <p:cNvPr id="1026" name="Picture 2" descr="Architecture overview">
            <a:extLst>
              <a:ext uri="{FF2B5EF4-FFF2-40B4-BE49-F238E27FC236}">
                <a16:creationId xmlns:a16="http://schemas.microsoft.com/office/drawing/2014/main" id="{30F46F61-84A5-A6FB-5247-8D0882D5F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74" y="1742164"/>
            <a:ext cx="7216663" cy="4079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048BFB-0833-24C7-6EB3-6ED41E36B603}"/>
              </a:ext>
            </a:extLst>
          </p:cNvPr>
          <p:cNvSpPr txBox="1"/>
          <p:nvPr/>
        </p:nvSpPr>
        <p:spPr>
          <a:xfrm>
            <a:off x="1547714" y="5821513"/>
            <a:ext cx="5647858" cy="338554"/>
          </a:xfrm>
          <a:prstGeom prst="rect">
            <a:avLst/>
          </a:prstGeom>
          <a:solidFill>
            <a:schemeClr val="lt1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hlinkClick r:id="rId3"/>
              </a:rPr>
              <a:t>https://docs.snowflake.com/en/user-guide/intro-key-concepts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4180961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epheid Bullet">
  <a:themeElements>
    <a:clrScheme name="Cepheid 2021 1">
      <a:dk1>
        <a:srgbClr val="000000"/>
      </a:dk1>
      <a:lt1>
        <a:srgbClr val="FFFFFF"/>
      </a:lt1>
      <a:dk2>
        <a:srgbClr val="4C4C4F"/>
      </a:dk2>
      <a:lt2>
        <a:srgbClr val="E8E8E8"/>
      </a:lt2>
      <a:accent1>
        <a:srgbClr val="14BEF0"/>
      </a:accent1>
      <a:accent2>
        <a:srgbClr val="0079C1"/>
      </a:accent2>
      <a:accent3>
        <a:srgbClr val="F7941D"/>
      </a:accent3>
      <a:accent4>
        <a:srgbClr val="DF601E"/>
      </a:accent4>
      <a:accent5>
        <a:srgbClr val="8DC600"/>
      </a:accent5>
      <a:accent6>
        <a:srgbClr val="FDB71A"/>
      </a:accent6>
      <a:hlink>
        <a:srgbClr val="8DC600"/>
      </a:hlink>
      <a:folHlink>
        <a:srgbClr val="DF602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gradFill flip="none" rotWithShape="1">
          <a:gsLst>
            <a:gs pos="0">
              <a:schemeClr val="accent1">
                <a:lumMod val="75000"/>
              </a:schemeClr>
            </a:gs>
            <a:gs pos="50000">
              <a:schemeClr val="accent1"/>
            </a:gs>
            <a:gs pos="100000">
              <a:srgbClr val="38B7F0"/>
            </a:gs>
          </a:gsLst>
          <a:lin ang="16200000" scaled="1"/>
          <a:tileRect/>
        </a:gradFill>
        <a:ln w="1905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>
          <a:outerShdw blurRad="50800" sx="98000" sy="98000" algn="ctr" rotWithShape="0">
            <a:prstClr val="black">
              <a:alpha val="22000"/>
            </a:prstClr>
          </a:outerShdw>
        </a:effectLst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algn="ctr">
          <a:lnSpc>
            <a:spcPct val="90000"/>
          </a:lnSpc>
          <a:spcBef>
            <a:spcPts val="600"/>
          </a:spcBef>
          <a:defRPr b="1" spc="-20" dirty="0">
            <a:solidFill>
              <a:schemeClr val="bg1"/>
            </a:solidFill>
            <a:latin typeface="Arial" pitchFamily="34" charset="0"/>
            <a:ea typeface="新細明體" charset="0"/>
            <a:cs typeface="新細明體" charset="0"/>
          </a:defRPr>
        </a:defPPr>
      </a:lstStyle>
    </a:spDef>
    <a:lnDef>
      <a:spPr bwMode="auto">
        <a:ln w="19050" cmpd="sng">
          <a:solidFill>
            <a:srgbClr val="007AC2"/>
          </a:solidFill>
          <a:miter lim="400000"/>
        </a:ln>
        <a:extLst>
          <a:ext uri="{AF507438-7753-43e0-B8FC-AC1667EBCBE1}">
            <a14:hiddenEffects xmlns:a14="http://schemas.microsoft.com/office/drawing/2010/main" xmlns="" xmlns:p="http://schemas.openxmlformats.org/presentationml/2006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/>
      <a:lstStyle/>
    </a:lnDef>
    <a:txDef>
      <a:spPr>
        <a:ln>
          <a:solidFill>
            <a:schemeClr val="bg1"/>
          </a:solidFill>
        </a:ln>
      </a:spPr>
      <a:bodyPr wrap="none" lIns="0" tIns="0" rIns="0" bIns="0" rtlCol="0" anchor="t" anchorCtr="0">
        <a:noAutofit/>
      </a:bodyPr>
      <a:lstStyle>
        <a:defPPr marL="171450" indent="-171450" algn="l">
          <a:lnSpc>
            <a:spcPct val="90000"/>
          </a:lnSpc>
          <a:spcAft>
            <a:spcPts val="600"/>
          </a:spcAft>
          <a:buFont typeface="Arial" panose="020B0604020202020204" pitchFamily="34" charset="0"/>
          <a:buChar char="•"/>
          <a:defRPr sz="1000" dirty="0" err="1" smtClean="0">
            <a:latin typeface="+mj-lt"/>
          </a:defRPr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txDef>
  </a:objectDefaults>
  <a:extraClrSchemeLst>
    <a:extraClrScheme>
      <a:clrScheme name="1_Default Design 1">
        <a:dk1>
          <a:srgbClr val="00B9F2"/>
        </a:dk1>
        <a:lt1>
          <a:srgbClr val="E8E8E8"/>
        </a:lt1>
        <a:dk2>
          <a:srgbClr val="00325B"/>
        </a:dk2>
        <a:lt2>
          <a:srgbClr val="747679"/>
        </a:lt2>
        <a:accent1>
          <a:srgbClr val="C8C8C8"/>
        </a:accent1>
        <a:accent2>
          <a:srgbClr val="FDB714"/>
        </a:accent2>
        <a:accent3>
          <a:srgbClr val="F2F2F2"/>
        </a:accent3>
        <a:accent4>
          <a:srgbClr val="009ECF"/>
        </a:accent4>
        <a:accent5>
          <a:srgbClr val="E0E0E0"/>
        </a:accent5>
        <a:accent6>
          <a:srgbClr val="E5A611"/>
        </a:accent6>
        <a:hlink>
          <a:srgbClr val="349545"/>
        </a:hlink>
        <a:folHlink>
          <a:srgbClr val="A2BB3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4" id="{34D49303-2A44-924F-B0B5-476AEADCF6C6}" vid="{825C23DA-77B4-494E-97A3-5CE3505EA958}"/>
    </a:ext>
  </a:extLst>
</a:theme>
</file>

<file path=ppt/theme/theme2.xml><?xml version="1.0" encoding="utf-8"?>
<a:theme xmlns:a="http://schemas.openxmlformats.org/drawingml/2006/main" name="Office Theme">
  <a:themeElements>
    <a:clrScheme name="Cepheid">
      <a:dk1>
        <a:srgbClr val="000000"/>
      </a:dk1>
      <a:lt1>
        <a:srgbClr val="FFFFFF"/>
      </a:lt1>
      <a:dk2>
        <a:srgbClr val="646464"/>
      </a:dk2>
      <a:lt2>
        <a:srgbClr val="E8E8E8"/>
      </a:lt2>
      <a:accent1>
        <a:srgbClr val="14BEF0"/>
      </a:accent1>
      <a:accent2>
        <a:srgbClr val="007AC2"/>
      </a:accent2>
      <a:accent3>
        <a:srgbClr val="F7941D"/>
      </a:accent3>
      <a:accent4>
        <a:srgbClr val="E36F1E"/>
      </a:accent4>
      <a:accent5>
        <a:srgbClr val="77B800"/>
      </a:accent5>
      <a:accent6>
        <a:srgbClr val="FDB71A"/>
      </a:accent6>
      <a:hlink>
        <a:srgbClr val="77B800"/>
      </a:hlink>
      <a:folHlink>
        <a:srgbClr val="808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Cepheid">
      <a:dk1>
        <a:srgbClr val="000000"/>
      </a:dk1>
      <a:lt1>
        <a:srgbClr val="FFFFFF"/>
      </a:lt1>
      <a:dk2>
        <a:srgbClr val="646464"/>
      </a:dk2>
      <a:lt2>
        <a:srgbClr val="E8E8E8"/>
      </a:lt2>
      <a:accent1>
        <a:srgbClr val="14BEF0"/>
      </a:accent1>
      <a:accent2>
        <a:srgbClr val="007AC2"/>
      </a:accent2>
      <a:accent3>
        <a:srgbClr val="F7941D"/>
      </a:accent3>
      <a:accent4>
        <a:srgbClr val="E36F1E"/>
      </a:accent4>
      <a:accent5>
        <a:srgbClr val="77B800"/>
      </a:accent5>
      <a:accent6>
        <a:srgbClr val="FDB71A"/>
      </a:accent6>
      <a:hlink>
        <a:srgbClr val="77B800"/>
      </a:hlink>
      <a:folHlink>
        <a:srgbClr val="808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61CCE20B3DB24F9EF61C69885A35F1" ma:contentTypeVersion="20" ma:contentTypeDescription="Create a new document." ma:contentTypeScope="" ma:versionID="d052265e05c40815b1d7acc8ff42cd53">
  <xsd:schema xmlns:xsd="http://www.w3.org/2001/XMLSchema" xmlns:xs="http://www.w3.org/2001/XMLSchema" xmlns:p="http://schemas.microsoft.com/office/2006/metadata/properties" xmlns:ns2="115bb6e2-d7d2-4c37-8109-1b4f4114a518" xmlns:ns3="01308dab-0150-49a3-a404-c45708cea98a" targetNamespace="http://schemas.microsoft.com/office/2006/metadata/properties" ma:root="true" ma:fieldsID="0be31957c7452bf56f901fec7f607576" ns2:_="" ns3:_="">
    <xsd:import namespace="115bb6e2-d7d2-4c37-8109-1b4f4114a518"/>
    <xsd:import namespace="01308dab-0150-49a3-a404-c45708cea9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TestLead" minOccurs="0"/>
                <xsd:element ref="ns2:Notes" minOccurs="0"/>
                <xsd:element ref="ns2:_Flow_SignoffStatu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5bb6e2-d7d2-4c37-8109-1b4f4114a5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TestLead" ma:index="15" nillable="true" ma:displayName="Test Lead" ma:format="Dropdown" ma:list="UserInfo" ma:SharePointGroup="0" ma:internalName="TestLead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Notes" ma:index="16" nillable="true" ma:displayName="Notes" ma:format="Dropdown" ma:internalName="Notes">
      <xsd:simpleType>
        <xsd:restriction base="dms:Text">
          <xsd:maxLength value="255"/>
        </xsd:restriction>
      </xsd:simpleType>
    </xsd:element>
    <xsd:element name="_Flow_SignoffStatus" ma:index="17" nillable="true" ma:displayName="Sign-off status" ma:internalName="Sign_x002d_off_x0020_status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c893bb2c-950b-4672-b623-c5bc4517d6a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308dab-0150-49a3-a404-c45708cea98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674c593-4c8b-4cf1-aff8-fa6b8f8214f4}" ma:internalName="TaxCatchAll" ma:showField="CatchAllData" ma:web="01308dab-0150-49a3-a404-c45708cea9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1308dab-0150-49a3-a404-c45708cea98a" xsi:nil="true"/>
    <lcf76f155ced4ddcb4097134ff3c332f xmlns="115bb6e2-d7d2-4c37-8109-1b4f4114a518">
      <Terms xmlns="http://schemas.microsoft.com/office/infopath/2007/PartnerControls"/>
    </lcf76f155ced4ddcb4097134ff3c332f>
    <_Flow_SignoffStatus xmlns="115bb6e2-d7d2-4c37-8109-1b4f4114a518" xsi:nil="true"/>
    <TestLead xmlns="115bb6e2-d7d2-4c37-8109-1b4f4114a518">
      <UserInfo>
        <DisplayName/>
        <AccountId xsi:nil="true"/>
        <AccountType/>
      </UserInfo>
    </TestLead>
    <Notes xmlns="115bb6e2-d7d2-4c37-8109-1b4f4114a518" xsi:nil="true"/>
  </documentManagement>
</p:properties>
</file>

<file path=customXml/itemProps1.xml><?xml version="1.0" encoding="utf-8"?>
<ds:datastoreItem xmlns:ds="http://schemas.openxmlformats.org/officeDocument/2006/customXml" ds:itemID="{1D0286D4-D4AC-4715-B9EE-82DD00C61D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8DD7B5A-0DD1-4F7F-A5B4-EDFBE5B1FF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5bb6e2-d7d2-4c37-8109-1b4f4114a518"/>
    <ds:schemaRef ds:uri="01308dab-0150-49a3-a404-c45708cea9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1D3F8AB-9B87-4F76-A41B-FC96F5876DC9}">
  <ds:schemaRefs>
    <ds:schemaRef ds:uri="01308dab-0150-49a3-a404-c45708cea98a"/>
    <ds:schemaRef ds:uri="115bb6e2-d7d2-4c37-8109-1b4f4114a518"/>
    <ds:schemaRef ds:uri="fe1f0520-0cae-4a47-80f8-ab0259f3981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14565</TotalTime>
  <Words>682</Words>
  <Application>Microsoft Office PowerPoint</Application>
  <PresentationFormat>Widescreen</PresentationFormat>
  <Paragraphs>117</Paragraphs>
  <Slides>9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Cepheid Bullet</vt:lpstr>
      <vt:lpstr>PowerPoint Presentation</vt:lpstr>
      <vt:lpstr>Agenda - Snowflake</vt:lpstr>
      <vt:lpstr>OPS BI Program Objectives</vt:lpstr>
      <vt:lpstr>CDP Snowflake Overview</vt:lpstr>
      <vt:lpstr>Activity – Explore Snowflake </vt:lpstr>
      <vt:lpstr>Activity – Connect to Power BI</vt:lpstr>
      <vt:lpstr>Activity – Connect to Excel </vt:lpstr>
      <vt:lpstr>Learning Resources &amp; BI Community  </vt:lpstr>
      <vt:lpstr>CDP Snowflake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Justin Espiritu</dc:creator>
  <cp:lastModifiedBy>Thota, Brij</cp:lastModifiedBy>
  <cp:revision>7</cp:revision>
  <cp:lastPrinted>2021-11-15T16:11:56Z</cp:lastPrinted>
  <dcterms:created xsi:type="dcterms:W3CDTF">2021-11-24T22:13:46Z</dcterms:created>
  <dcterms:modified xsi:type="dcterms:W3CDTF">2026-10-01T10:18:51Z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31ef649-45d3-4e5d-80df-d43468de9a5e_Enabled">
    <vt:lpwstr>true</vt:lpwstr>
  </property>
  <property fmtid="{D5CDD505-2E9C-101B-9397-08002B2CF9AE}" pid="3" name="MSIP_Label_631ef649-45d3-4e5d-80df-d43468de9a5e_SetDate">
    <vt:lpwstr>2021-11-12T17:11:41Z</vt:lpwstr>
  </property>
  <property fmtid="{D5CDD505-2E9C-101B-9397-08002B2CF9AE}" pid="4" name="MSIP_Label_631ef649-45d3-4e5d-80df-d43468de9a5e_Method">
    <vt:lpwstr>Privileged</vt:lpwstr>
  </property>
  <property fmtid="{D5CDD505-2E9C-101B-9397-08002B2CF9AE}" pid="5" name="MSIP_Label_631ef649-45d3-4e5d-80df-d43468de9a5e_Name">
    <vt:lpwstr>Unclassified</vt:lpwstr>
  </property>
  <property fmtid="{D5CDD505-2E9C-101B-9397-08002B2CF9AE}" pid="6" name="MSIP_Label_631ef649-45d3-4e5d-80df-d43468de9a5e_SiteId">
    <vt:lpwstr>771c9c47-7f24-44dc-958e-34f8713a8394</vt:lpwstr>
  </property>
  <property fmtid="{D5CDD505-2E9C-101B-9397-08002B2CF9AE}" pid="7" name="MSIP_Label_631ef649-45d3-4e5d-80df-d43468de9a5e_ActionId">
    <vt:lpwstr>d1cdadb7-cbcb-49cb-b808-3307a284cae0</vt:lpwstr>
  </property>
  <property fmtid="{D5CDD505-2E9C-101B-9397-08002B2CF9AE}" pid="8" name="MSIP_Label_631ef649-45d3-4e5d-80df-d43468de9a5e_ContentBits">
    <vt:lpwstr>0</vt:lpwstr>
  </property>
  <property fmtid="{D5CDD505-2E9C-101B-9397-08002B2CF9AE}" pid="9" name="ContentTypeId">
    <vt:lpwstr>0x010100E161CCE20B3DB24F9EF61C69885A35F1</vt:lpwstr>
  </property>
  <property fmtid="{D5CDD505-2E9C-101B-9397-08002B2CF9AE}" pid="10" name="MediaServiceImageTags">
    <vt:lpwstr/>
  </property>
</Properties>
</file>